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7432" cy="27432"/>
          </a:xfrm>
          <a:prstGeom prst="ellipse">
            <a:avLst/>
          </a:prstGeom>
          <a:solidFill>
            <a:srgbClr val="2A3153"/>
          </a:solidFill>
          <a:ln/>
        </p:spPr>
      </p:sp>
      <p:sp>
        <p:nvSpPr>
          <p:cNvPr id="3" name="Shape 1"/>
          <p:cNvSpPr/>
          <p:nvPr/>
        </p:nvSpPr>
        <p:spPr>
          <a:xfrm>
            <a:off x="1508760" y="274320"/>
            <a:ext cx="27432" cy="27432"/>
          </a:xfrm>
          <a:prstGeom prst="ellipse">
            <a:avLst/>
          </a:prstGeom>
          <a:solidFill>
            <a:srgbClr val="2A315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274320"/>
            <a:ext cx="27432" cy="27432"/>
          </a:xfrm>
          <a:prstGeom prst="ellipse">
            <a:avLst/>
          </a:prstGeom>
          <a:solidFill>
            <a:srgbClr val="2A3153"/>
          </a:solidFill>
          <a:ln/>
        </p:spPr>
      </p:sp>
      <p:sp>
        <p:nvSpPr>
          <p:cNvPr id="5" name="Shape 3"/>
          <p:cNvSpPr/>
          <p:nvPr/>
        </p:nvSpPr>
        <p:spPr>
          <a:xfrm>
            <a:off x="3977640" y="274320"/>
            <a:ext cx="27432" cy="27432"/>
          </a:xfrm>
          <a:prstGeom prst="ellipse">
            <a:avLst/>
          </a:prstGeom>
          <a:solidFill>
            <a:srgbClr val="2A3153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0" y="274320"/>
            <a:ext cx="27432" cy="27432"/>
          </a:xfrm>
          <a:prstGeom prst="ellipse">
            <a:avLst/>
          </a:prstGeom>
          <a:solidFill>
            <a:srgbClr val="2A3153"/>
          </a:solidFill>
          <a:ln/>
        </p:spPr>
      </p:sp>
      <p:sp>
        <p:nvSpPr>
          <p:cNvPr id="7" name="Shape 5"/>
          <p:cNvSpPr/>
          <p:nvPr/>
        </p:nvSpPr>
        <p:spPr>
          <a:xfrm>
            <a:off x="6446520" y="274320"/>
            <a:ext cx="27432" cy="27432"/>
          </a:xfrm>
          <a:prstGeom prst="ellipse">
            <a:avLst/>
          </a:prstGeom>
          <a:solidFill>
            <a:srgbClr val="2A3153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274320"/>
            <a:ext cx="27432" cy="27432"/>
          </a:xfrm>
          <a:prstGeom prst="ellipse">
            <a:avLst/>
          </a:prstGeom>
          <a:solidFill>
            <a:srgbClr val="2A3153"/>
          </a:solidFill>
          <a:ln/>
        </p:spPr>
      </p:sp>
      <p:sp>
        <p:nvSpPr>
          <p:cNvPr id="9" name="Shape 7"/>
          <p:cNvSpPr/>
          <p:nvPr/>
        </p:nvSpPr>
        <p:spPr>
          <a:xfrm>
            <a:off x="8915400" y="274320"/>
            <a:ext cx="27432" cy="27432"/>
          </a:xfrm>
          <a:prstGeom prst="ellipse">
            <a:avLst/>
          </a:prstGeom>
          <a:solidFill>
            <a:srgbClr val="2A3153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9840" y="274320"/>
            <a:ext cx="27432" cy="27432"/>
          </a:xfrm>
          <a:prstGeom prst="ellipse">
            <a:avLst/>
          </a:prstGeom>
          <a:solidFill>
            <a:srgbClr val="2A3153"/>
          </a:solidFill>
          <a:ln/>
        </p:spPr>
      </p:sp>
      <p:sp>
        <p:nvSpPr>
          <p:cNvPr id="11" name="Shape 9"/>
          <p:cNvSpPr/>
          <p:nvPr/>
        </p:nvSpPr>
        <p:spPr>
          <a:xfrm>
            <a:off x="11384280" y="274320"/>
            <a:ext cx="27432" cy="27432"/>
          </a:xfrm>
          <a:prstGeom prst="ellipse">
            <a:avLst/>
          </a:prstGeom>
          <a:solidFill>
            <a:srgbClr val="2A315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OPEN CASE FILE #2026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10515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5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CASE OF THE
</a:t>
            </a:r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8B5CF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MISSING INSIGHT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 ×  OLAP — a mystery in 7 case files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6309360" cy="1188720"/>
          </a:xfrm>
          <a:prstGeom prst="roundRect">
            <a:avLst>
              <a:gd name="adj" fmla="val 10769"/>
            </a:avLst>
          </a:prstGeom>
          <a:solidFill>
            <a:srgbClr val="151A2E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840480"/>
            <a:ext cx="731520" cy="731520"/>
          </a:xfrm>
          <a:prstGeom prst="ellipse">
            <a:avLst/>
          </a:prstGeom>
          <a:solidFill>
            <a:srgbClr val="FF4D8D"/>
          </a:solidFill>
          <a:ln/>
        </p:spPr>
      </p:sp>
      <p:pic>
        <p:nvPicPr>
          <p:cNvPr id="17" name="Image 0" descr="icons/dete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7764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91640" y="37947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million transactions. 1 simple question:
</a:t>
            </a:r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business turn raw data into a decision?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507492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1C2340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78408" y="523036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5340096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8640" y="57424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DB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148840" y="507492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1C2340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578608" y="5230368"/>
            <a:ext cx="457200" cy="457200"/>
          </a:xfrm>
          <a:prstGeom prst="ellipse">
            <a:avLst/>
          </a:prstGeom>
          <a:solidFill>
            <a:srgbClr val="FF4D8D"/>
          </a:solidFill>
          <a:ln/>
        </p:spPr>
      </p:sp>
      <p:pic>
        <p:nvPicPr>
          <p:cNvPr id="25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36" y="5340096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148840" y="57424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DB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749040" y="507492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1C2340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78808" y="5230368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9" name="Image 3" descr="icons/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534009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749040" y="57424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Logs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349240" y="5074920"/>
            <a:ext cx="1417320" cy="1051560"/>
          </a:xfrm>
          <a:prstGeom prst="roundRect">
            <a:avLst>
              <a:gd name="adj" fmla="val 8696"/>
            </a:avLst>
          </a:prstGeom>
          <a:solidFill>
            <a:srgbClr val="1C2340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779008" y="5230368"/>
            <a:ext cx="457200" cy="45720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33" name="Image 4" descr="icons/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5340096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49240" y="574243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Sheets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589520" y="1051560"/>
            <a:ext cx="4023360" cy="5074920"/>
          </a:xfrm>
          <a:prstGeom prst="roundRect">
            <a:avLst>
              <a:gd name="adj" fmla="val 3636"/>
            </a:avLst>
          </a:prstGeom>
          <a:solidFill>
            <a:srgbClr val="151A2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8181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CLUE BOARD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9052560" y="242316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8" name="Image 5" descr="icons/cu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2642616"/>
            <a:ext cx="566928" cy="56692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818120" y="3520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5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</a:t>
            </a:r>
            <a:endParaRPr lang="en-US" sz="16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F5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WAREHOUSE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7818120" y="425196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C2340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7927848" y="4325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7927848" y="4572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500" dirty="0"/>
          </a:p>
        </p:txBody>
      </p:sp>
      <p:sp>
        <p:nvSpPr>
          <p:cNvPr id="43" name="Shape 35"/>
          <p:cNvSpPr/>
          <p:nvPr/>
        </p:nvSpPr>
        <p:spPr>
          <a:xfrm>
            <a:off x="9646920" y="425196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C23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9756648" y="4325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9756648" y="4572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500" dirty="0"/>
          </a:p>
        </p:txBody>
      </p:sp>
      <p:sp>
        <p:nvSpPr>
          <p:cNvPr id="46" name="Shape 38"/>
          <p:cNvSpPr/>
          <p:nvPr/>
        </p:nvSpPr>
        <p:spPr>
          <a:xfrm>
            <a:off x="7818120" y="512064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C2340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7927848" y="51937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48" name="Text 40"/>
          <p:cNvSpPr/>
          <p:nvPr/>
        </p:nvSpPr>
        <p:spPr>
          <a:xfrm>
            <a:off x="7927848" y="5440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500" dirty="0"/>
          </a:p>
        </p:txBody>
      </p:sp>
      <p:sp>
        <p:nvSpPr>
          <p:cNvPr id="49" name="Shape 41"/>
          <p:cNvSpPr/>
          <p:nvPr/>
        </p:nvSpPr>
        <p:spPr>
          <a:xfrm>
            <a:off x="9646920" y="512064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C2340"/>
          </a:solidFill>
          <a:ln w="12700">
            <a:solidFill>
              <a:srgbClr val="FFC940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9756648" y="519379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9756648" y="54406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₹10L</a:t>
            </a:r>
            <a:endParaRPr lang="en-US" sz="1500" dirty="0"/>
          </a:p>
        </p:txBody>
      </p:sp>
      <p:sp>
        <p:nvSpPr>
          <p:cNvPr id="52" name="Shape 44"/>
          <p:cNvSpPr/>
          <p:nvPr/>
        </p:nvSpPr>
        <p:spPr>
          <a:xfrm rot="480000">
            <a:off x="6263640" y="137160"/>
            <a:ext cx="1691640" cy="960120"/>
          </a:xfrm>
          <a:prstGeom prst="roundRect">
            <a:avLst>
              <a:gd name="adj" fmla="val 11429"/>
            </a:avLst>
          </a:prstGeom>
          <a:solidFill>
            <a:srgbClr val="FF4D8D"/>
          </a:solidFill>
          <a:ln w="15875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53" name="Text 45"/>
          <p:cNvSpPr/>
          <p:nvPr/>
        </p:nvSpPr>
        <p:spPr>
          <a:xfrm rot="480000">
            <a:off x="6263640" y="137160"/>
            <a:ext cx="1691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50" kern="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50" kern="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1 / 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FOUNDATION — MEET THE HQ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B0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Detective's HQ:</a:t>
            </a:r>
            <a:endParaRPr lang="en-US" sz="3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B0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Data Warehouse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good investigation needs one place where all the evidence lives — clean, organized, and ready to search. That's a data warehouse: a centralized home for analytical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3F1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944368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Image 0" descr="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07238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90779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07792" y="30632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1B9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3291840" y="274320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3F1FF"/>
          </a:solidFill>
          <a:ln w="19050">
            <a:solidFill>
              <a:srgbClr val="FF4D8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2944368"/>
            <a:ext cx="566928" cy="566928"/>
          </a:xfrm>
          <a:prstGeom prst="ellipse">
            <a:avLst/>
          </a:prstGeom>
          <a:solidFill>
            <a:srgbClr val="FF4D8D"/>
          </a:solidFill>
          <a:ln/>
        </p:spPr>
      </p:sp>
      <p:pic>
        <p:nvPicPr>
          <p:cNvPr id="12" name="Image 1" descr="icons/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307238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290779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/ ELT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50992" y="30632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1B9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6035040" y="274320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3F1F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2944368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07238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290779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94192" y="30632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A1B9"/>
                </a:solidFill>
              </a:rPr>
              <a:t>→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8778240" y="2743200"/>
            <a:ext cx="2331720" cy="1234440"/>
          </a:xfrm>
          <a:prstGeom prst="roundRect">
            <a:avLst>
              <a:gd name="adj" fmla="val 8889"/>
            </a:avLst>
          </a:prstGeom>
          <a:solidFill>
            <a:srgbClr val="F3F1FF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0" y="2944368"/>
            <a:ext cx="566928" cy="566928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2" name="Image 3" descr="icons/chartp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307238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46920" y="290779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CLASSIC CHARACTERISTICS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75488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AFAFC"/>
          </a:solidFill>
          <a:ln w="12700">
            <a:solidFill>
              <a:srgbClr val="E3E4E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85800" y="4937760"/>
            <a:ext cx="73152" cy="41148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48463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Subject-Oriented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• Customer • Product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6080760" y="475488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AFAFC"/>
          </a:solidFill>
          <a:ln w="12700">
            <a:solidFill>
              <a:srgbClr val="E3E4E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217920" y="4937760"/>
            <a:ext cx="73152" cy="411480"/>
          </a:xfrm>
          <a:prstGeom prst="roundRect">
            <a:avLst/>
          </a:prstGeom>
          <a:solidFill>
            <a:srgbClr val="FF4D8D"/>
          </a:solidFill>
          <a:ln/>
        </p:spPr>
      </p:sp>
      <p:sp>
        <p:nvSpPr>
          <p:cNvPr id="30" name="Text 24"/>
          <p:cNvSpPr/>
          <p:nvPr/>
        </p:nvSpPr>
        <p:spPr>
          <a:xfrm>
            <a:off x="6446520" y="48463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data from many sources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48640" y="566928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AFAFC"/>
          </a:solidFill>
          <a:ln w="12700">
            <a:solidFill>
              <a:srgbClr val="E3E4E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85800" y="5852160"/>
            <a:ext cx="73152" cy="411480"/>
          </a:xfrm>
          <a:prstGeom prst="roundRect">
            <a:avLst/>
          </a:prstGeom>
          <a:solidFill>
            <a:srgbClr val="22D3EE"/>
          </a:solidFill>
          <a:ln/>
        </p:spPr>
      </p:sp>
      <p:sp>
        <p:nvSpPr>
          <p:cNvPr id="33" name="Text 27"/>
          <p:cNvSpPr/>
          <p:nvPr/>
        </p:nvSpPr>
        <p:spPr>
          <a:xfrm>
            <a:off x="914400" y="5760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Time-Variant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historical data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6080760" y="566928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FAFAFC"/>
          </a:solidFill>
          <a:ln w="12700">
            <a:solidFill>
              <a:srgbClr val="E3E4E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217920" y="5852160"/>
            <a:ext cx="73152" cy="411480"/>
          </a:xfrm>
          <a:prstGeom prst="roundRect">
            <a:avLst/>
          </a:prstGeom>
          <a:solidFill>
            <a:srgbClr val="3DDC97"/>
          </a:solidFill>
          <a:ln/>
        </p:spPr>
      </p:sp>
      <p:sp>
        <p:nvSpPr>
          <p:cNvPr id="36" name="Text 30"/>
          <p:cNvSpPr/>
          <p:nvPr/>
        </p:nvSpPr>
        <p:spPr>
          <a:xfrm>
            <a:off x="6446520" y="5760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Non-Volatile
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data isn't frequently changed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 rot="-480000">
            <a:off x="9052560" y="45720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FFC940"/>
          </a:solidFill>
          <a:ln w="15875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 rot="-480000">
            <a:off x="9052560" y="4572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= 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2 / 07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THE MODEL — EVERY CLUE HAS ANGLES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Multidimensional</a:t>
            </a:r>
            <a:endParaRPr lang="en-US" sz="32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same business fact from multiple angles — like a detective circling one piece of evidence to see every side of the story.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51A2E"/>
          </a:solidFill>
          <a:ln w="19050">
            <a:solidFill>
              <a:srgbClr val="FF4D8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063240"/>
            <a:ext cx="502920" cy="502920"/>
          </a:xfrm>
          <a:prstGeom prst="ellipse">
            <a:avLst/>
          </a:prstGeom>
          <a:solidFill>
            <a:srgbClr val="FF4D8D"/>
          </a:solidFill>
          <a:ln/>
        </p:spPr>
      </p:sp>
      <p:pic>
        <p:nvPicPr>
          <p:cNvPr id="7" name="Image 0" descr="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17296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11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values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0" y="2834640"/>
            <a:ext cx="2468880" cy="1554480"/>
          </a:xfrm>
          <a:prstGeom prst="roundRect">
            <a:avLst>
              <a:gd name="adj" fmla="val 7059"/>
            </a:avLst>
          </a:prstGeom>
          <a:solidFill>
            <a:srgbClr val="151A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3063240"/>
            <a:ext cx="502920" cy="50292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1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317296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3611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around it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4617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• Quantity • Profit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Facts
</a:t>
            </a:r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• Location • Time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Dimensions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 rot="-360000">
            <a:off x="1463040" y="562356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5875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 rot="-360000">
            <a:off x="1463040" y="56235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50" kern="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 🌀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949440" y="1051560"/>
            <a:ext cx="4663440" cy="5394960"/>
          </a:xfrm>
          <a:prstGeom prst="roundRect">
            <a:avLst>
              <a:gd name="adj" fmla="val 3137"/>
            </a:avLst>
          </a:prstGeom>
          <a:solidFill>
            <a:srgbClr val="151A2E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7804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223760" y="16916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C2340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223760" y="1737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
</a:t>
            </a:r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9601200" y="16916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C23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601200" y="1737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
</a:t>
            </a:r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092440" y="26060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4D8D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8092440" y="2880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A0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
</a:t>
            </a:r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680960" y="429768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C23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80960" y="4343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
</a:t>
            </a:r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7223760" y="5120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in the cube = one measurable fact, seen from 3 dimensions at once.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3 / 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SCHEMA — BUILDING THE EVIDENCE 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400" b="1" dirty="0">
                <a:solidFill>
                  <a:srgbClr val="0B0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Star ⭐ vs Snowflake ❄️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1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ways to structure a dimensional warehouse.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434840"/>
          </a:xfrm>
          <a:prstGeom prst="roundRect">
            <a:avLst>
              <a:gd name="adj" fmla="val 3299"/>
            </a:avLst>
          </a:prstGeom>
          <a:solidFill>
            <a:srgbClr val="FFF9EC"/>
          </a:solidFill>
          <a:ln w="25400">
            <a:solidFill>
              <a:srgbClr val="FFC9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40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⭐ STAR SCHEMA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• Fewer joins • Easy to query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40690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FFC940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4069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4434840"/>
            <a:ext cx="-1965960" cy="-1234440"/>
          </a:xfrm>
          <a:prstGeom prst="line">
            <a:avLst/>
          </a:prstGeom>
          <a:noFill/>
          <a:ln w="19050">
            <a:solidFill>
              <a:srgbClr val="D8B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4434840"/>
            <a:ext cx="1965960" cy="-1234440"/>
          </a:xfrm>
          <a:prstGeom prst="line">
            <a:avLst/>
          </a:prstGeom>
          <a:noFill/>
          <a:ln w="19050">
            <a:solidFill>
              <a:srgbClr val="D8B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4434840"/>
            <a:ext cx="-1965960" cy="1234440"/>
          </a:xfrm>
          <a:prstGeom prst="line">
            <a:avLst/>
          </a:prstGeom>
          <a:noFill/>
          <a:ln w="19050">
            <a:solidFill>
              <a:srgbClr val="D8B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4434840"/>
            <a:ext cx="1965960" cy="1234440"/>
          </a:xfrm>
          <a:prstGeom prst="line">
            <a:avLst/>
          </a:prstGeom>
          <a:noFill/>
          <a:ln w="19050">
            <a:solidFill>
              <a:srgbClr val="D8B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8B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260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92608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8B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9260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8B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949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539496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D8B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53949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1965960"/>
            <a:ext cx="5349240" cy="4434840"/>
          </a:xfrm>
          <a:prstGeom prst="roundRect">
            <a:avLst>
              <a:gd name="adj" fmla="val 3299"/>
            </a:avLst>
          </a:prstGeom>
          <a:solidFill>
            <a:srgbClr val="ECFBFF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637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❄️ SNOWFLAKE SCHEMA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83680" y="23957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8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• Less redundancy • More joins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39776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39776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4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42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281160" y="4343400"/>
            <a:ext cx="-1691640" cy="-1234440"/>
          </a:xfrm>
          <a:prstGeom prst="line">
            <a:avLst/>
          </a:prstGeom>
          <a:noFill/>
          <a:ln w="19050">
            <a:solidFill>
              <a:srgbClr val="7FD9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1160" y="4343400"/>
            <a:ext cx="1691640" cy="-1234440"/>
          </a:xfrm>
          <a:prstGeom prst="line">
            <a:avLst/>
          </a:prstGeom>
          <a:noFill/>
          <a:ln w="19050">
            <a:solidFill>
              <a:srgbClr val="7FD9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81160" y="4343400"/>
            <a:ext cx="-1691640" cy="1234440"/>
          </a:xfrm>
          <a:prstGeom prst="line">
            <a:avLst/>
          </a:prstGeom>
          <a:noFill/>
          <a:ln w="19050">
            <a:solidFill>
              <a:srgbClr val="7FD9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81160" y="4343400"/>
            <a:ext cx="1691640" cy="1234440"/>
          </a:xfrm>
          <a:prstGeom prst="line">
            <a:avLst/>
          </a:prstGeom>
          <a:noFill/>
          <a:ln w="19050">
            <a:solidFill>
              <a:srgbClr val="7FD9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5160" y="28346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7FD9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378440" y="28346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7FD9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78440" y="28346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95160" y="53035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7FD9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53035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378440" y="53035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7FD9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78440" y="53035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4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589520" y="3383280"/>
            <a:ext cx="0" cy="228600"/>
          </a:xfrm>
          <a:prstGeom prst="line">
            <a:avLst/>
          </a:prstGeom>
          <a:noFill/>
          <a:ln w="15875">
            <a:solidFill>
              <a:srgbClr val="B8ECF5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995160" y="36118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3FDFF"/>
          </a:solidFill>
          <a:ln w="12700">
            <a:solidFill>
              <a:srgbClr val="B8EC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95160" y="3611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89520" y="5852160"/>
            <a:ext cx="0" cy="182880"/>
          </a:xfrm>
          <a:prstGeom prst="line">
            <a:avLst/>
          </a:prstGeom>
          <a:noFill/>
          <a:ln w="15875">
            <a:solidFill>
              <a:srgbClr val="B8ECF5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995160" y="60350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F3FDFF"/>
          </a:solidFill>
          <a:ln w="12700">
            <a:solidFill>
              <a:srgbClr val="B8EC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6035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4 / 07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ANALYSIS — THE DETECTIVE'S MOVES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5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OLAP: 5 Ways to Explore the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Analytical Processing turns the model into an interactive investigation tool.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21408" cy="3977640"/>
          </a:xfrm>
          <a:prstGeom prst="roundRect">
            <a:avLst>
              <a:gd name="adj" fmla="val 6034"/>
            </a:avLst>
          </a:prstGeom>
          <a:solidFill>
            <a:srgbClr val="151A2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66444" y="2743200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0" descr="icons/arrow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92" y="2898648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61188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40690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→ Summary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4754880"/>
            <a:ext cx="1847088" cy="1143000"/>
          </a:xfrm>
          <a:prstGeom prst="roundRect">
            <a:avLst>
              <a:gd name="adj" fmla="val 6400"/>
            </a:avLst>
          </a:prstGeom>
          <a:solidFill>
            <a:srgbClr val="1C234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4800600"/>
            <a:ext cx="16642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→ Maharashtra → India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834640" y="2148840"/>
            <a:ext cx="2121408" cy="3977640"/>
          </a:xfrm>
          <a:prstGeom prst="roundRect">
            <a:avLst>
              <a:gd name="adj" fmla="val 6034"/>
            </a:avLst>
          </a:prstGeom>
          <a:solidFill>
            <a:srgbClr val="151A2E"/>
          </a:solidFill>
          <a:ln w="19050">
            <a:solidFill>
              <a:srgbClr val="FF4D8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718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D8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552444" y="2743200"/>
            <a:ext cx="685800" cy="685800"/>
          </a:xfrm>
          <a:prstGeom prst="ellipse">
            <a:avLst/>
          </a:prstGeom>
          <a:solidFill>
            <a:srgbClr val="FF4D8D"/>
          </a:solidFill>
          <a:ln/>
        </p:spPr>
      </p:sp>
      <p:pic>
        <p:nvPicPr>
          <p:cNvPr id="16" name="Image 1" descr="icons/arro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892" y="2898648"/>
            <a:ext cx="374904" cy="374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26080" y="361188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971800" y="40690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→ Detail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2971800" y="4754880"/>
            <a:ext cx="1847088" cy="1143000"/>
          </a:xfrm>
          <a:prstGeom prst="roundRect">
            <a:avLst>
              <a:gd name="adj" fmla="val 6400"/>
            </a:avLst>
          </a:prstGeom>
          <a:solidFill>
            <a:srgbClr val="1C2340"/>
          </a:solidFill>
          <a:ln/>
        </p:spPr>
      </p:sp>
      <p:sp>
        <p:nvSpPr>
          <p:cNvPr id="20" name="Text 16"/>
          <p:cNvSpPr/>
          <p:nvPr/>
        </p:nvSpPr>
        <p:spPr>
          <a:xfrm>
            <a:off x="3063240" y="4800600"/>
            <a:ext cx="16642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→ Maharashtra → Mumbai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120640" y="2148840"/>
            <a:ext cx="2121408" cy="3977640"/>
          </a:xfrm>
          <a:prstGeom prst="roundRect">
            <a:avLst>
              <a:gd name="adj" fmla="val 6034"/>
            </a:avLst>
          </a:prstGeom>
          <a:solidFill>
            <a:srgbClr val="151A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578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838444" y="2743200"/>
            <a:ext cx="685800" cy="6858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24" name="Image 2" descr="icons/pizz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892" y="2898648"/>
            <a:ext cx="374904" cy="37490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12080" y="361188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257800" y="40690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dimension value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257800" y="4754880"/>
            <a:ext cx="1847088" cy="1143000"/>
          </a:xfrm>
          <a:prstGeom prst="roundRect">
            <a:avLst>
              <a:gd name="adj" fmla="val 6400"/>
            </a:avLst>
          </a:prstGeom>
          <a:solidFill>
            <a:srgbClr val="1C2340"/>
          </a:solidFill>
          <a:ln/>
        </p:spPr>
      </p:sp>
      <p:sp>
        <p:nvSpPr>
          <p:cNvPr id="28" name="Text 23"/>
          <p:cNvSpPr/>
          <p:nvPr/>
        </p:nvSpPr>
        <p:spPr>
          <a:xfrm>
            <a:off x="5349240" y="4800600"/>
            <a:ext cx="16642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2026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406640" y="2148840"/>
            <a:ext cx="2121408" cy="3977640"/>
          </a:xfrm>
          <a:prstGeom prst="roundRect">
            <a:avLst>
              <a:gd name="adj" fmla="val 6034"/>
            </a:avLst>
          </a:prstGeom>
          <a:solidFill>
            <a:srgbClr val="151A2E"/>
          </a:solidFill>
          <a:ln w="19050">
            <a:solidFill>
              <a:srgbClr val="FFC94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5438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9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000" dirty="0"/>
          </a:p>
        </p:txBody>
      </p:sp>
      <p:sp>
        <p:nvSpPr>
          <p:cNvPr id="31" name="Shape 26"/>
          <p:cNvSpPr/>
          <p:nvPr/>
        </p:nvSpPr>
        <p:spPr>
          <a:xfrm>
            <a:off x="8124444" y="2743200"/>
            <a:ext cx="685800" cy="685800"/>
          </a:xfrm>
          <a:prstGeom prst="ellipse">
            <a:avLst/>
          </a:prstGeom>
          <a:solidFill>
            <a:srgbClr val="FFC940"/>
          </a:solidFill>
          <a:ln/>
        </p:spPr>
      </p:sp>
      <p:pic>
        <p:nvPicPr>
          <p:cNvPr id="32" name="Image 3" descr="icons/d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892" y="2898648"/>
            <a:ext cx="374904" cy="37490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98080" y="361188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7543800" y="40690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dimensions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7543800" y="4754880"/>
            <a:ext cx="1847088" cy="1143000"/>
          </a:xfrm>
          <a:prstGeom prst="roundRect">
            <a:avLst>
              <a:gd name="adj" fmla="val 6400"/>
            </a:avLst>
          </a:prstGeom>
          <a:solidFill>
            <a:srgbClr val="1C2340"/>
          </a:solidFill>
          <a:ln/>
        </p:spPr>
      </p:sp>
      <p:sp>
        <p:nvSpPr>
          <p:cNvPr id="36" name="Text 30"/>
          <p:cNvSpPr/>
          <p:nvPr/>
        </p:nvSpPr>
        <p:spPr>
          <a:xfrm>
            <a:off x="7635240" y="4800600"/>
            <a:ext cx="16642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+ Mumbai + Electronics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692640" y="2148840"/>
            <a:ext cx="2121408" cy="3977640"/>
          </a:xfrm>
          <a:prstGeom prst="roundRect">
            <a:avLst>
              <a:gd name="adj" fmla="val 6034"/>
            </a:avLst>
          </a:prstGeom>
          <a:solidFill>
            <a:srgbClr val="151A2E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8298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Shape 33"/>
          <p:cNvSpPr/>
          <p:nvPr/>
        </p:nvSpPr>
        <p:spPr>
          <a:xfrm>
            <a:off x="10410444" y="2743200"/>
            <a:ext cx="685800" cy="68580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40" name="Image 4" descr="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5892" y="2898648"/>
            <a:ext cx="374904" cy="37490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784080" y="361188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500" dirty="0"/>
          </a:p>
        </p:txBody>
      </p:sp>
      <p:sp>
        <p:nvSpPr>
          <p:cNvPr id="42" name="Text 35"/>
          <p:cNvSpPr/>
          <p:nvPr/>
        </p:nvSpPr>
        <p:spPr>
          <a:xfrm>
            <a:off x="9829800" y="406908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view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9829800" y="4754880"/>
            <a:ext cx="1847088" cy="1143000"/>
          </a:xfrm>
          <a:prstGeom prst="roundRect">
            <a:avLst>
              <a:gd name="adj" fmla="val 6400"/>
            </a:avLst>
          </a:prstGeom>
          <a:solidFill>
            <a:srgbClr val="1C2340"/>
          </a:solidFill>
          <a:ln/>
        </p:spPr>
      </p:sp>
      <p:sp>
        <p:nvSpPr>
          <p:cNvPr id="44" name="Text 37"/>
          <p:cNvSpPr/>
          <p:nvPr/>
        </p:nvSpPr>
        <p:spPr>
          <a:xfrm>
            <a:off x="9921240" y="4800600"/>
            <a:ext cx="16642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↔ Columns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 rot="420000">
            <a:off x="10149840" y="45720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FF4D8D"/>
          </a:solidFill>
          <a:ln w="15875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6" name="Text 39"/>
          <p:cNvSpPr/>
          <p:nvPr/>
        </p:nvSpPr>
        <p:spPr>
          <a:xfrm rot="420000">
            <a:off x="10149840" y="4572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MOVES.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50" kern="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50" kern="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ANGLES.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5 / 07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INTERACTION — YOU BE THE DETECTIVE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5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Can You Crack the Case?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audience first — click / reveal each answer while presenting. 🕵️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151A2E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sales from 2026.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1C2340"/>
          </a:solidFill>
          <a:ln w="15875">
            <a:solidFill>
              <a:srgbClr val="22D3E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868680" y="32278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dimension, no distractions"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05740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151A2E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56032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+ Mumbai + 2026.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09360" y="315468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1C2340"/>
          </a:solidFill>
          <a:ln w="15875">
            <a:solidFill>
              <a:srgbClr val="FFC94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446520" y="32278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FFC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350215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"stacking filters like a pro"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151A2E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→ Maharashtra → India.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530352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1C2340"/>
          </a:solidFill>
          <a:ln w="15875">
            <a:solidFill>
              <a:srgbClr val="8B5CF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68680" y="537667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65099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"zooming out for the big picture"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420624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151A2E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343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8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470916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→ Maharashtra → Mumbai.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09360" y="5303520"/>
            <a:ext cx="4983480" cy="685800"/>
          </a:xfrm>
          <a:prstGeom prst="roundRect">
            <a:avLst>
              <a:gd name="adj" fmla="val 10667"/>
            </a:avLst>
          </a:prstGeom>
          <a:solidFill>
            <a:srgbClr val="1C2340"/>
          </a:solidFill>
          <a:ln w="15875">
            <a:solidFill>
              <a:srgbClr val="FF4D8D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446520" y="537667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pPr indent="0" marL="0">
              <a:buNone/>
            </a:pPr>
            <a:r>
              <a:rPr lang="en-US" sz="1500" b="1" dirty="0">
                <a:solidFill>
                  <a:srgbClr val="FF4D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65099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you need the receipts"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rot="420000">
            <a:off x="10058400" y="36576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FFC940"/>
          </a:solidFill>
          <a:ln w="15875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 rot="420000">
            <a:off x="10058400" y="36576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5 SEC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REVEAL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6 / 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TAKEAWAY — CASE CLOSED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5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Raw Data → Business Decision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story, in one picture.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755648" cy="2331720"/>
          </a:xfrm>
          <a:prstGeom prst="roundRect">
            <a:avLst>
              <a:gd name="adj" fmla="val 6250"/>
            </a:avLst>
          </a:prstGeom>
          <a:solidFill>
            <a:srgbClr val="151A2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37744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Image 0" descr="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5054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3108960"/>
            <a:ext cx="1609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374904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sources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286000" y="30861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1B9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432304" y="2148840"/>
            <a:ext cx="1755648" cy="2331720"/>
          </a:xfrm>
          <a:prstGeom prst="roundRect">
            <a:avLst>
              <a:gd name="adj" fmla="val 6250"/>
            </a:avLst>
          </a:prstGeom>
          <a:solidFill>
            <a:srgbClr val="151A2E"/>
          </a:solidFill>
          <a:ln w="19050">
            <a:solidFill>
              <a:srgbClr val="FF4D8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26664" y="2377440"/>
            <a:ext cx="566928" cy="566928"/>
          </a:xfrm>
          <a:prstGeom prst="ellipse">
            <a:avLst/>
          </a:prstGeom>
          <a:solidFill>
            <a:srgbClr val="FF4D8D"/>
          </a:solidFill>
          <a:ln/>
        </p:spPr>
      </p:sp>
      <p:pic>
        <p:nvPicPr>
          <p:cNvPr id="13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50545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05456" y="3108960"/>
            <a:ext cx="1609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505456" y="374904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history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169664" y="30861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1B9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4315968" y="2148840"/>
            <a:ext cx="1755648" cy="2331720"/>
          </a:xfrm>
          <a:prstGeom prst="roundRect">
            <a:avLst>
              <a:gd name="adj" fmla="val 6250"/>
            </a:avLst>
          </a:prstGeom>
          <a:solidFill>
            <a:srgbClr val="151A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910328" y="237744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9" name="Image 2" descr="icons/cu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250545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89120" y="3108960"/>
            <a:ext cx="1609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389120" y="374904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+ dimensions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053328" y="30861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1B9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199632" y="2148840"/>
            <a:ext cx="1755648" cy="2331720"/>
          </a:xfrm>
          <a:prstGeom prst="roundRect">
            <a:avLst>
              <a:gd name="adj" fmla="val 6250"/>
            </a:avLst>
          </a:prstGeom>
          <a:solidFill>
            <a:srgbClr val="151A2E"/>
          </a:solidFill>
          <a:ln w="19050">
            <a:solidFill>
              <a:srgbClr val="FFC9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793992" y="2377440"/>
            <a:ext cx="566928" cy="566928"/>
          </a:xfrm>
          <a:prstGeom prst="ellipse">
            <a:avLst/>
          </a:prstGeom>
          <a:solidFill>
            <a:srgbClr val="FFC940"/>
          </a:solidFill>
          <a:ln/>
        </p:spPr>
      </p:sp>
      <p:pic>
        <p:nvPicPr>
          <p:cNvPr id="25" name="Image 3" descr="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2505456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72784" y="3108960"/>
            <a:ext cx="1609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272784" y="374904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/ Snowflake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936992" y="30861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1B9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3"/>
          <p:cNvSpPr/>
          <p:nvPr/>
        </p:nvSpPr>
        <p:spPr>
          <a:xfrm>
            <a:off x="8083296" y="2148840"/>
            <a:ext cx="1755648" cy="2331720"/>
          </a:xfrm>
          <a:prstGeom prst="roundRect">
            <a:avLst>
              <a:gd name="adj" fmla="val 6250"/>
            </a:avLst>
          </a:prstGeom>
          <a:solidFill>
            <a:srgbClr val="151A2E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677656" y="2377440"/>
            <a:ext cx="566928" cy="566928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31" name="Image 4" descr="icons/chartp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2" y="2505456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156448" y="3108960"/>
            <a:ext cx="1609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8156448" y="374904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compare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9820656" y="308610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1B9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28"/>
          <p:cNvSpPr/>
          <p:nvPr/>
        </p:nvSpPr>
        <p:spPr>
          <a:xfrm>
            <a:off x="9966960" y="2148840"/>
            <a:ext cx="1755648" cy="2331720"/>
          </a:xfrm>
          <a:prstGeom prst="roundRect">
            <a:avLst>
              <a:gd name="adj" fmla="val 6250"/>
            </a:avLst>
          </a:prstGeom>
          <a:solidFill>
            <a:srgbClr val="151A2E"/>
          </a:solidFill>
          <a:ln w="19050">
            <a:solidFill>
              <a:srgbClr val="FF9F4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561320" y="2377440"/>
            <a:ext cx="566928" cy="566928"/>
          </a:xfrm>
          <a:prstGeom prst="ellipse">
            <a:avLst/>
          </a:prstGeom>
          <a:solidFill>
            <a:srgbClr val="FF9F45"/>
          </a:solidFill>
          <a:ln/>
        </p:spPr>
      </p:sp>
      <p:pic>
        <p:nvPicPr>
          <p:cNvPr id="37" name="Image 5" descr="icons/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9336" y="2505456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040112" y="3108960"/>
            <a:ext cx="16093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0040112" y="3749040"/>
            <a:ext cx="1609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48640" y="4846320"/>
            <a:ext cx="8138160" cy="1051560"/>
          </a:xfrm>
          <a:prstGeom prst="roundRect">
            <a:avLst>
              <a:gd name="adj" fmla="val 12174"/>
            </a:avLst>
          </a:prstGeom>
          <a:solidFill>
            <a:srgbClr val="1C2340"/>
          </a:solidFill>
          <a:ln w="12700">
            <a:solidFill>
              <a:srgbClr val="2A3153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822960" y="4846320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F6F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“Data is everywhere. The value is knowing how to analyze it.”</a:t>
            </a:r>
            <a:endParaRPr lang="en-US" sz="1600" dirty="0"/>
          </a:p>
        </p:txBody>
      </p:sp>
      <p:sp>
        <p:nvSpPr>
          <p:cNvPr id="42" name="Shape 34"/>
          <p:cNvSpPr/>
          <p:nvPr/>
        </p:nvSpPr>
        <p:spPr>
          <a:xfrm rot="-300000">
            <a:off x="9052560" y="4892040"/>
            <a:ext cx="2377440" cy="960120"/>
          </a:xfrm>
          <a:prstGeom prst="roundRect">
            <a:avLst>
              <a:gd name="adj" fmla="val 11429"/>
            </a:avLst>
          </a:prstGeom>
          <a:solidFill>
            <a:srgbClr val="3DDC97"/>
          </a:solidFill>
          <a:ln w="15875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40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 rot="-300000">
            <a:off x="9052560" y="48920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05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spc="50" kern="0" dirty="0">
                <a:solidFill>
                  <a:srgbClr val="05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✅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54864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 →   INFORMATION   →   INSIGHT   →   DECISION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FILE 7 /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2026-08-25T18:19:22Z</dcterms:created>
  <dcterms:modified xsi:type="dcterms:W3CDTF">2026-08-25T18:19:22Z</dcterms:modified>
</cp:coreProperties>
</file>