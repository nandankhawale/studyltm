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3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2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3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3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085" y="2263229"/>
            <a:ext cx="3399829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9434" y="2701379"/>
            <a:ext cx="5053131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NumPy for Numerical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Space Grotesk"/>
              </a:rPr>
              <a:t>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973859"/>
            <a:ext cx="7620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Arrays, vectorization, broadcasting, and high-performance computing — explained with viral cat, dog, &amp; hamster meme mechanics.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6600825"/>
            <a:ext cx="2068264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NUMERICAL COMPUTING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0514" y="6600825"/>
            <a:ext cx="14147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1 • INTRODUCTION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60" y="2341810"/>
            <a:ext cx="150911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557212"/>
            <a:ext cx="2334517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309687"/>
            <a:ext cx="5457825" cy="1004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428875"/>
            <a:ext cx="5457825" cy="1004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548062"/>
            <a:ext cx="5457825" cy="1004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35317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FOUNDATIONS • CORE MOTIVATION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SLIDE 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9525"/>
            <a:ext cx="5915025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39052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1.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842962"/>
            <a:ext cx="573071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What is NumPy &amp; Why It Exists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609600"/>
            <a:ext cx="118616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" y="1471612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PURE PYTHON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690687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Standard lists store boxed objects scattered across RAM with pointer dereferencing, making 1,000,000 loop calculations a slow, confusing ordeal.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2590800"/>
            <a:ext cx="5350668" cy="161925"/>
          </a:xfrm>
          <a:prstGeom prst="rect">
            <a:avLst/>
          </a:prstGeom>
          <a:noFill/>
        </p:spPr>
        <p:txBody>
          <a:bodyPr wrap="square" lIns="12084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THE NUMPY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809875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Pre-compiled C routines operating on contiguous memory buffers that crunch mathematical operations at hardware speed with SIMD 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3709987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HARDWARE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929062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Direct L1/L2 CPU cache utilization with compact byte representation instead of heavy Python object headers.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490662"/>
            <a:ext cx="139898" cy="1285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609850"/>
            <a:ext cx="120848" cy="12858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729037"/>
            <a:ext cx="139898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770584"/>
            <a:ext cx="1864072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980259"/>
            <a:ext cx="5495925" cy="6643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652587"/>
            <a:ext cx="5495925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600825"/>
            <a:ext cx="223956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FOUNDATIONS • THE NDARRAY 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0696" y="6600825"/>
            <a:ext cx="43457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056334"/>
            <a:ext cx="549592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F8FAFC"/>
                </a:solidFill>
                <a:latin typeface="Inter"/>
              </a:rPr>
              <a:t>Python Lists = Cats in Random Boxes: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Separate boxes of different sizes scattered across rooms with high pointer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518296"/>
            <a:ext cx="549592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F8FAFC"/>
                </a:solidFill>
                <a:latin typeface="Inter"/>
              </a:rPr>
              <a:t>NumPy ndarray = The Egg Carton: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Homogeneous, fixed-type elements seated tightly in a single contiguous memory grid.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2822971"/>
            <a:ext cx="137666" cy="104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662112"/>
            <a:ext cx="5476875" cy="407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1.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The ndarray: "If It Fits, I Sits"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720578"/>
            <a:ext cx="3651200" cy="19597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325" y="2720578"/>
            <a:ext cx="3651200" cy="19597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925" y="2720578"/>
            <a:ext cx="3651200" cy="19597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45718"/>
            <a:ext cx="3365450" cy="6643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200" y="4018359"/>
            <a:ext cx="3365450" cy="5000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800" y="4018359"/>
            <a:ext cx="3365450" cy="5000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725" y="6600825"/>
            <a:ext cx="208418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WORKING WITH ARRAYS •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0696" y="6600825"/>
            <a:ext cx="43457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4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82503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3320653"/>
            <a:ext cx="35337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1. Initializers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58778"/>
            <a:ext cx="33654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Pre-allocate memory blocks with constant initial values.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200" y="2882503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3200" y="3320653"/>
            <a:ext cx="35337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2. Numeric Ranges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200" y="3558778"/>
            <a:ext cx="33654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Generate stepped ranges or evenly spaced mathematical intervals.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0" y="2882503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16800" y="3320653"/>
            <a:ext cx="353372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3. Random Sampling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6800" y="3558778"/>
            <a:ext cx="33654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Produce seeded distributions for reproducible scientific testing.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2968228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8925" y="2968228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2525" y="2968228"/>
            <a:ext cx="17145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2. WORKING WITH ARRAYS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Array Creation Mechanisms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726531"/>
            <a:ext cx="5495925" cy="1947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726531"/>
            <a:ext cx="5495925" cy="1947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940843"/>
            <a:ext cx="1673572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974306"/>
            <a:ext cx="5095875" cy="5000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40843"/>
            <a:ext cx="1786681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3974306"/>
            <a:ext cx="5095875" cy="5000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725" y="6600825"/>
            <a:ext cx="248051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WORKING WITH ARRAYS • SLICING &amp;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0696" y="6600825"/>
            <a:ext cx="43457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226593"/>
            <a:ext cx="535066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Space Grotesk"/>
              </a:rPr>
              <a:t>Basic Slicing (Zero-Copy)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512343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Slicing does not clone data; it produces a </a:t>
            </a:r>
            <a:r>
              <a:rPr b="1" sz="1012" i="0" u="none">
                <a:solidFill>
                  <a:srgbClr val="F8FAFC"/>
                </a:solidFill>
                <a:latin typeface="Inter"/>
              </a:rPr>
              <a:t>view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sharing original memory. Modifying the view changes the source array directly!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226593"/>
            <a:ext cx="535066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Space Grotesk"/>
              </a:rPr>
              <a:t>Boolean Masking &amp; Fancy 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512343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Selecting by condition creates an independent memory copy. Modifying the resulting array leaves the original intact.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993231"/>
            <a:ext cx="109091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993231"/>
            <a:ext cx="109091" cy="104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2. WORKING WITH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Indexing &amp; Slicing: The Mirror Cat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557212"/>
            <a:ext cx="2391667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309687"/>
            <a:ext cx="5457825" cy="1004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428875"/>
            <a:ext cx="5457825" cy="1004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548062"/>
            <a:ext cx="5457825" cy="1004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35317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COMPUTATION • VECTORIZED MATH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SLIDE 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9525"/>
            <a:ext cx="5915025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39052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3.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842962"/>
            <a:ext cx="573071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Vectorization: High-Speed C Execution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609600"/>
            <a:ext cx="99566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" y="1471612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MANUAL FOR-LOOP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690687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Walking up to 1,000,000 hamsters one-by-one to spin their wheels. Slow, exhausting, and CPU-intensive with high interpreter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2590800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VECTORIZED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809875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The turbo hamster running wheel! Pre-compiled C machine code spins all 1,000,000 elements simultaneously in hardware registers.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3709987"/>
            <a:ext cx="5350668" cy="161925"/>
          </a:xfrm>
          <a:prstGeom prst="rect">
            <a:avLst/>
          </a:prstGeom>
          <a:noFill/>
        </p:spPr>
        <p:txBody>
          <a:bodyPr wrap="square" lIns="168473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UNIVERSAL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929062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Fast ufuncs like , , and execute natively in compiled C without loop overhead.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490662"/>
            <a:ext cx="139898" cy="1285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609850"/>
            <a:ext cx="139898" cy="12858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729037"/>
            <a:ext cx="168473" cy="12858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8300" y="3948112"/>
            <a:ext cx="6667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81250" y="3948112"/>
            <a:ext cx="6667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0900" y="3948112"/>
            <a:ext cx="6667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852737"/>
            <a:ext cx="1334095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062412"/>
            <a:ext cx="5495925" cy="5000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652587"/>
            <a:ext cx="5495925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600825"/>
            <a:ext cx="226814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COMPUTATION • BROADCASTING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0221" y="6600825"/>
            <a:ext cx="425053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138487"/>
            <a:ext cx="549592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F8FAFC"/>
                </a:solidFill>
                <a:latin typeface="Inter"/>
              </a:rPr>
              <a:t>Mismatched Shapes?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Adding a single 1D vector (3,) to a (3, 3) matrix automatically stretches the vector across all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600450"/>
            <a:ext cx="549592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F8FAFC"/>
                </a:solidFill>
                <a:latin typeface="Inter"/>
              </a:rPr>
              <a:t>Zero Memory Overhead:</a:t>
            </a:r>
            <a:r>
              <a:rPr b="0" sz="1012" i="0" u="none">
                <a:solidFill>
                  <a:srgbClr val="94A3B8"/>
                </a:solidFill>
                <a:latin typeface="Inter"/>
              </a:rPr>
              <a:t> Shapes are compatible when trailing dimensions are equal or one is 1. NumPy broadcasts virtually without duplicating memory!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2905125"/>
            <a:ext cx="109091" cy="104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662112"/>
            <a:ext cx="5476875" cy="407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3.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Broadcasting: The Long Cat Rule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6600825"/>
            <a:ext cx="266759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ANALYSIS TOOLKIT • DESCRIPTIVE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0696" y="6600825"/>
            <a:ext cx="43457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725" y="2736056"/>
          <a:ext cx="11258549" cy="192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89398"/>
                <a:gridCol w="3072705"/>
                <a:gridCol w="2187773"/>
                <a:gridCol w="3908673"/>
              </a:tblGrid>
              <a:tr h="38576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Analysis Goal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NumPy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Axis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Space Grotesk"/>
                        </a:rPr>
                        <a:t>Meme Analogy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41A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94A3B8"/>
                          </a:solidFill>
                          <a:latin typeface="Inter"/>
                        </a:rPr>
                        <a:t>Central Tendency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np.mean()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/ 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np.median()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axis=0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(down column)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Swatting straight down the scratching 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94A3B8"/>
                          </a:solidFill>
                          <a:latin typeface="Inter"/>
                        </a:rPr>
                        <a:t>Spread &amp; Variance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np.std()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/ 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np.var()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axis=1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(across row)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Sprinting horizontally along the high shelf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94A3B8"/>
                          </a:solidFill>
                          <a:latin typeface="Inter"/>
                        </a:rPr>
                        <a:t>Totals &amp; Accumulation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np.sum()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/ 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np.cumsum()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axis=0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Tracking total treat consumption over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4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94A3B8"/>
                          </a:solidFill>
                          <a:latin typeface="Inter"/>
                        </a:rPr>
                        <a:t>Boss Extrema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np.min()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, 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np.max()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, 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argmax()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axis=None</a:t>
                      </a:r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 (all)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94A3B8"/>
                          </a:solidFill>
                          <a:latin typeface="Inter"/>
                        </a:rPr>
                        <a:t>Finding the index of the absolute chonkiest pet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66725" y="3107531"/>
            <a:ext cx="2089398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123" y="3107531"/>
            <a:ext cx="3072705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8828" y="3107531"/>
            <a:ext cx="21877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6601" y="3107531"/>
            <a:ext cx="39086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725" y="3493293"/>
            <a:ext cx="2089398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123" y="3493293"/>
            <a:ext cx="3072705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8828" y="3493293"/>
            <a:ext cx="21877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6601" y="3493293"/>
            <a:ext cx="39086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725" y="3879056"/>
            <a:ext cx="2089398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6123" y="3879056"/>
            <a:ext cx="3072705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8828" y="3879056"/>
            <a:ext cx="21877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6601" y="3879056"/>
            <a:ext cx="39086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725" y="4264818"/>
            <a:ext cx="2089398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56123" y="4264818"/>
            <a:ext cx="3072705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28828" y="4264818"/>
            <a:ext cx="21877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6601" y="4264818"/>
            <a:ext cx="39086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725" y="4650581"/>
            <a:ext cx="2089398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56123" y="4650581"/>
            <a:ext cx="3072705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28828" y="4650581"/>
            <a:ext cx="21877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6601" y="4650581"/>
            <a:ext cx="3908673" cy="9525"/>
          </a:xfrm>
          <a:prstGeom prst="rect">
            <a:avLst/>
          </a:prstGeom>
          <a:solidFill>
            <a:srgbClr val="1F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423" y="3226593"/>
            <a:ext cx="73342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673" y="3226593"/>
            <a:ext cx="86677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128" y="3226593"/>
            <a:ext cx="53340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423" y="3612356"/>
            <a:ext cx="66675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0998" y="3612356"/>
            <a:ext cx="666750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3128" y="3612356"/>
            <a:ext cx="533400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0423" y="3998118"/>
            <a:ext cx="666750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0998" y="3998118"/>
            <a:ext cx="86677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128" y="3998118"/>
            <a:ext cx="533400" cy="180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0423" y="4383881"/>
            <a:ext cx="666750" cy="1809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3373" y="4383881"/>
            <a:ext cx="666750" cy="180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56323" y="4383881"/>
            <a:ext cx="666750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43128" y="4383881"/>
            <a:ext cx="733425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4. ANALYSIS TOOLKIT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Statistical &amp; Aggregate Reductions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726531"/>
            <a:ext cx="5495925" cy="19478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726531"/>
            <a:ext cx="5495925" cy="19478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940843"/>
            <a:ext cx="161225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974306"/>
            <a:ext cx="5095875" cy="5000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2940843"/>
            <a:ext cx="1329928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3974306"/>
            <a:ext cx="5095875" cy="5000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725" y="6600825"/>
            <a:ext cx="299754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ANALYSIS TOOLKIT • RESHAPING &amp; LINEAR 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0696" y="6600825"/>
            <a:ext cx="43457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226593"/>
            <a:ext cx="535066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Space Grotesk"/>
              </a:rPr>
              <a:t>Reshaping &amp; Axes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512343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Pets are liquid: they fit into any container shape without changing their mass or element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226593"/>
            <a:ext cx="535066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Space Grotesk"/>
              </a:rPr>
              <a:t>np.linalg &amp; Matrix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512343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The operator and power PCA, regression, and neural network matrix multipliers.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993231"/>
            <a:ext cx="118616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993231"/>
            <a:ext cx="118616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3531393"/>
            <a:ext cx="20002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2875" y="3531393"/>
            <a:ext cx="73342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4. ANALYSIS TOOLKIT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Reshaping &amp; Linear Algebra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557212"/>
            <a:ext cx="2391667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309687"/>
            <a:ext cx="5457825" cy="1004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428875"/>
            <a:ext cx="5457825" cy="1004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548062"/>
            <a:ext cx="5457825" cy="1004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35317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ANALYSIS TOOLKIT • MISSING VALUES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SLIDE 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9525"/>
            <a:ext cx="5915025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39052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4. ANALYSIS TOOLKIT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842962"/>
            <a:ext cx="573071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Handling Missing Data: np.nan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609600"/>
            <a:ext cx="118616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" y="1471612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CORRUPTED DATA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690687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When unexpected gaps hit calculations, standard Python panics like the Staring Hamster on FaceTime. NumPy handles them gracefully with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2590800"/>
            <a:ext cx="5350668" cy="161925"/>
          </a:xfrm>
          <a:prstGeom prst="rect">
            <a:avLst/>
          </a:prstGeom>
          <a:noFill/>
        </p:spPr>
        <p:txBody>
          <a:bodyPr wrap="square" lIns="139898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MASKING &amp; ROBUST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809875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Filter missing entries with or compute robust statistics with and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3709987"/>
            <a:ext cx="5350668" cy="161925"/>
          </a:xfrm>
          <a:prstGeom prst="rect">
            <a:avLst/>
          </a:prstGeom>
          <a:noFill/>
        </p:spPr>
        <p:txBody>
          <a:bodyPr wrap="square" lIns="168473" rIns="0" tIns="0" bIns="0" anchor="t">
            <a:spAutoFit/>
          </a:bodyPr>
          <a:lstStyle/>
          <a:p>
            <a:pPr algn="l"/>
            <a:r>
              <a:rPr b="1" sz="1012" i="0" u="none">
                <a:solidFill>
                  <a:srgbClr val="38BDF8"/>
                </a:solidFill>
                <a:latin typeface="Space Grotesk"/>
              </a:rPr>
              <a:t>INFINITY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929062"/>
            <a:ext cx="5095875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94A3B8"/>
                </a:solidFill>
                <a:latin typeface="Inter"/>
              </a:rPr>
              <a:t>Catch divide-by-zero occurrences instantly using without breaking analytical pipelines.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490662"/>
            <a:ext cx="139898" cy="12858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1902618"/>
            <a:ext cx="533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609850"/>
            <a:ext cx="139898" cy="12858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2828925"/>
            <a:ext cx="11334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021806"/>
            <a:ext cx="933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85950" y="3021806"/>
            <a:ext cx="8667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729037"/>
            <a:ext cx="168473" cy="12858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6175" y="3948112"/>
            <a:ext cx="10001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557212"/>
            <a:ext cx="2462658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571625"/>
            <a:ext cx="5457825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409825"/>
            <a:ext cx="5457825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248025"/>
            <a:ext cx="5457825" cy="895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35317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IN PRACTICE • PERFORMANCE BENCHMARK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Inter Medium"/>
              </a:rPr>
              <a:t>SLIDE 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9525"/>
            <a:ext cx="5915025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725" y="390525"/>
            <a:ext cx="5457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5.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842962"/>
            <a:ext cx="573071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Performance: ~100x Speedup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1290637"/>
            <a:ext cx="5457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Benchmark comparison: Summing 1,000,000 64-bit floating point numbers in RAM.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609600"/>
            <a:ext cx="109091" cy="104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62175" y="1714500"/>
            <a:ext cx="36004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 Pure Python For-Loop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1981200"/>
            <a:ext cx="5133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Interprets bytecode opcodes for each element with massive memory heap pointer lookups.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7950" y="2552700"/>
            <a:ext cx="311467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 NumPy SIMD C-Vectorization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2819400"/>
            <a:ext cx="5133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Pre-compiled C routines stream raw primitives straight through CPU AVX vector registers.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350" y="3390900"/>
            <a:ext cx="296227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 Hardware L1/L2 Cache Locality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3657600"/>
            <a:ext cx="51339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Contiguous memory buffers eliminate memory fragmentation and CPU cache misses completely.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1575" y="1714500"/>
            <a:ext cx="7810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3375" y="2552700"/>
            <a:ext cx="16192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775" y="3390900"/>
            <a:ext cx="10858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1762125"/>
            <a:ext cx="76200" cy="12858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2600325"/>
            <a:ext cx="95250" cy="128587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3438525"/>
            <a:ext cx="133350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008709"/>
            <a:ext cx="2700337" cy="13835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62" y="3008709"/>
            <a:ext cx="2700337" cy="13835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08709"/>
            <a:ext cx="2700337" cy="13835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937" y="3008709"/>
            <a:ext cx="2700337" cy="13835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600825"/>
            <a:ext cx="235371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IN PRACTICE • THE PYTHON DATA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6821" y="6600825"/>
            <a:ext cx="488453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70634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608784"/>
            <a:ext cx="253531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46909"/>
            <a:ext cx="241458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Labeled tabular DataFrames built directly on top of NumPy ndarrays.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337" y="3170634"/>
            <a:ext cx="3429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62337" y="3608784"/>
            <a:ext cx="253531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2337" y="3846909"/>
            <a:ext cx="241458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Visual plots and charts rendered straight from raw array data buffers.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3170634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15075" y="3608784"/>
            <a:ext cx="253531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075" y="3846909"/>
            <a:ext cx="241458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Machine learning estimators ingest and output pure numerical arrays.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7812" y="3170634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67812" y="3608784"/>
            <a:ext cx="253531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PyTorch / 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7812" y="3846909"/>
            <a:ext cx="241458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94A3B8"/>
                </a:solidFill>
                <a:latin typeface="Inter"/>
              </a:rPr>
              <a:t>Deep learning tensors inherit NumPy's strided array memory model.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3256359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8062" y="3256359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256359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3537" y="3256359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5. IN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NumPy's Place in the Data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871912"/>
            <a:ext cx="2476797" cy="8024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876" y="2726531"/>
            <a:ext cx="2476797" cy="8024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028" y="3871912"/>
            <a:ext cx="2476797" cy="800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8179" y="2728912"/>
            <a:ext cx="2476797" cy="800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725" y="6600825"/>
            <a:ext cx="18938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WRAP-UP • WORKFLOW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6821" y="6600825"/>
            <a:ext cx="488453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SLIDE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725" y="3686175"/>
            <a:ext cx="11258550" cy="28575"/>
          </a:xfrm>
          <a:prstGeom prst="rect">
            <a:avLst/>
          </a:prstGeom>
          <a:solidFill>
            <a:srgbClr val="20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821" y="3995737"/>
            <a:ext cx="2340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Space Grotesk"/>
              </a:rPr>
              <a:t>1. Ingest Treats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4205287"/>
            <a:ext cx="222914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Load raw numbers into contiguous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72" y="2850356"/>
            <a:ext cx="2340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Space Grotesk"/>
              </a:rPr>
              <a:t>2. Mask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7701" y="3059906"/>
            <a:ext cx="222914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Filter out missing values with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9124" y="3995737"/>
            <a:ext cx="2340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Space Grotesk"/>
              </a:rPr>
              <a:t>3. Zoomies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853" y="4205287"/>
            <a:ext cx="222914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Execute vectorized transforms &amp; matrix dot products.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6275" y="2852737"/>
            <a:ext cx="23406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Space Grotesk"/>
              </a:rPr>
              <a:t>4. Model Handoff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004" y="3062287"/>
            <a:ext cx="222914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Pass tensors directly to ML and visualization tools.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7461" y="4376737"/>
            <a:ext cx="6667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4600" y="3231356"/>
            <a:ext cx="866775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WRAP-UP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4857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The End-to-End Analysis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8923" y="36242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B0E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6075" y="36242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B0E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83226" y="36242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B0E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10378" y="362426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B0B0E"/>
          </a:solidFill>
          <a:ln w="285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707927"/>
            <a:ext cx="1717030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935610"/>
            <a:ext cx="3133725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202" y="1666875"/>
            <a:ext cx="4912072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6534150"/>
            <a:ext cx="112585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6600825"/>
            <a:ext cx="150048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WORKING WITH LIBRARIES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1603" y="6600825"/>
            <a:ext cx="2943671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Medium"/>
              </a:rPr>
              <a:t>NUMPY FOR NUMERICAL DATA ANALYSIS • 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993677"/>
            <a:ext cx="6303756" cy="460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b="1" sz="3300" i="0" u="none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568898"/>
            <a:ext cx="6003577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You are now officially a NumPy &amp; Numerical Data Analysis Master. Any questions?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2760315"/>
            <a:ext cx="109091" cy="104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021335"/>
            <a:ext cx="10477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727" y="1676400"/>
            <a:ext cx="2095500" cy="2133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725" y="333375"/>
            <a:ext cx="1125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Space Grotesk"/>
              </a:rPr>
              <a:t>THE 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6725" y="1143000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725" y="1914525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725" y="2686050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725" y="3457575"/>
            <a:ext cx="11258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725" y="4229100"/>
            <a:ext cx="112585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725" y="19050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725" y="190500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725" y="267652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725" y="267652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725" y="344805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725" y="344805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725" y="42195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725" y="42195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725" y="516255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725" y="5162550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2858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62100" y="1293018"/>
            <a:ext cx="10163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https://ih1.redbubble.net/image.5202129125.6207/bg,f8f8f8-flat,750x,075,f-pad,750x1000,f8f8f8.jpg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100" y="1526381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www.redbubble.com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0574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62100" y="2064543"/>
            <a:ext cx="10163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https://i.etsystatic.com/25984045/r/il/ed8ed2/4567079003/il_570xN.4567079003_nvzy.jpg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2100" y="2297906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www.etsy.com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82892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62100" y="2836068"/>
            <a:ext cx="10163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https://media.tenor.com/5CIsastSNeMAAAAM/frustration-me.gif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2100" y="3069431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tenor.com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360045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62100" y="3607593"/>
            <a:ext cx="10163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https://static.boredpanda.com/blog/wp-content/uploads/2020/02/funny-cats-long-tall-fb54-png__700.jpg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100" y="3840956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www.boredpanda.com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4457700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62100" y="4371975"/>
            <a:ext cx="10163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https://preview.redd.it/my-friend-keeps-sending-these-hamsters-as-reaction-images-v0-itomr76z385f1.jpg?width=640&amp;crop=smart&amp;auto=webp&amp;s=ba9429b5633f895a1ea09d5bee34be85551f7640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2100" y="4791075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5400675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62100" y="5314950"/>
            <a:ext cx="10163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https://external-preview.redd.it/the-speed-of-a-sighthound-is-insane-v0-emtkY21iczZzODRnMfXy5P10NrlYYgE0zQ125gH7Gk_Nfir8ZQCmU_omaxtd.png?width=640&amp;crop=smart&amp;format=pjpg&amp;auto=webp&amp;s=351916d793e48f1570309739b5e3110625d86e1c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2100" y="5734050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www.reddit.com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3333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987" y="3386137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5362" y="3393281"/>
            <a:ext cx="36766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https://media.tenor.com/F4QdS7YKKv4AAAAM/praying-cat.gif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5362" y="3626643"/>
            <a:ext cx="3676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tenor.com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725" y="333375"/>
            <a:ext cx="117252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025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