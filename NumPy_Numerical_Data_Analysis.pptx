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1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300" b="0" i="0" u="none" strike="noStrike">
                <a:solidFill>
                  <a:srgbClr val="000000"/>
                </a:solidFill>
                <a:latin typeface="Arial"/>
              </a:rPr>
              <a:t>Execution Time (ms)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Time (milliseconds, lower is better)</c:v>
                </c:pt>
              </c:strCache>
            </c:strRef>
          </c:tx>
          <c:spPr>
            <a:solidFill>
              <a:srgbClr val="02809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3272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Python for-loop</c:v>
                  </c:pt>
                  <c:pt idx="1">
                    <c:v>Python list comprehension</c:v>
                  </c:pt>
                  <c:pt idx="2">
                    <c:v>NumPy vectorized sum()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120</c:v>
                </c:pt>
                <c:pt idx="1">
                  <c:v>55</c:v>
                </c:pt>
                <c:pt idx="2">
                  <c:v>1.2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3272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C7A7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E2EDE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C7A7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3B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548640"/>
            <a:ext cx="82296" cy="82296"/>
          </a:xfrm>
          <a:prstGeom prst="ellipse">
            <a:avLst/>
          </a:prstGeom>
          <a:solidFill>
            <a:srgbClr val="02C39A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841248"/>
            <a:ext cx="82296" cy="82296"/>
          </a:xfrm>
          <a:prstGeom prst="ellipse">
            <a:avLst/>
          </a:prstGeom>
          <a:solidFill>
            <a:srgbClr val="02C39A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9692640" y="1133856"/>
            <a:ext cx="82296" cy="82296"/>
          </a:xfrm>
          <a:prstGeom prst="ellipse">
            <a:avLst/>
          </a:prstGeom>
          <a:solidFill>
            <a:srgbClr val="02C39A">
              <a:alpha val="4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9692640" y="1426464"/>
            <a:ext cx="82296" cy="82296"/>
          </a:xfrm>
          <a:prstGeom prst="ellipse">
            <a:avLst/>
          </a:prstGeom>
          <a:solidFill>
            <a:srgbClr val="02C39A">
              <a:alpha val="4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9692640" y="1719072"/>
            <a:ext cx="82296" cy="82296"/>
          </a:xfrm>
          <a:prstGeom prst="ellipse">
            <a:avLst/>
          </a:prstGeom>
          <a:solidFill>
            <a:srgbClr val="02C39A">
              <a:alpha val="4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9692640" y="2011680"/>
            <a:ext cx="82296" cy="82296"/>
          </a:xfrm>
          <a:prstGeom prst="ellipse">
            <a:avLst/>
          </a:prstGeom>
          <a:solidFill>
            <a:srgbClr val="02C39A">
              <a:alpha val="4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9692640" y="2304288"/>
            <a:ext cx="82296" cy="82296"/>
          </a:xfrm>
          <a:prstGeom prst="ellipse">
            <a:avLst/>
          </a:prstGeom>
          <a:solidFill>
            <a:srgbClr val="02C39A">
              <a:alpha val="4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9692640" y="2596896"/>
            <a:ext cx="82296" cy="82296"/>
          </a:xfrm>
          <a:prstGeom prst="ellipse">
            <a:avLst/>
          </a:prstGeom>
          <a:solidFill>
            <a:srgbClr val="02C39A">
              <a:alpha val="4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9985248" y="548640"/>
            <a:ext cx="82296" cy="82296"/>
          </a:xfrm>
          <a:prstGeom prst="ellipse">
            <a:avLst/>
          </a:prstGeom>
          <a:solidFill>
            <a:srgbClr val="02C39A">
              <a:alpha val="45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9985248" y="841248"/>
            <a:ext cx="82296" cy="82296"/>
          </a:xfrm>
          <a:prstGeom prst="ellipse">
            <a:avLst/>
          </a:prstGeom>
          <a:solidFill>
            <a:srgbClr val="02C39A">
              <a:alpha val="45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9985248" y="1133856"/>
            <a:ext cx="82296" cy="82296"/>
          </a:xfrm>
          <a:prstGeom prst="ellipse">
            <a:avLst/>
          </a:prstGeom>
          <a:solidFill>
            <a:srgbClr val="02C39A">
              <a:alpha val="45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9985248" y="1426464"/>
            <a:ext cx="82296" cy="82296"/>
          </a:xfrm>
          <a:prstGeom prst="ellipse">
            <a:avLst/>
          </a:prstGeom>
          <a:solidFill>
            <a:srgbClr val="02C39A">
              <a:alpha val="45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9985248" y="1719072"/>
            <a:ext cx="82296" cy="82296"/>
          </a:xfrm>
          <a:prstGeom prst="ellipse">
            <a:avLst/>
          </a:prstGeom>
          <a:solidFill>
            <a:srgbClr val="02C39A">
              <a:alpha val="45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9985248" y="2011680"/>
            <a:ext cx="82296" cy="82296"/>
          </a:xfrm>
          <a:prstGeom prst="ellipse">
            <a:avLst/>
          </a:prstGeom>
          <a:solidFill>
            <a:srgbClr val="02C39A">
              <a:alpha val="45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9985248" y="2304288"/>
            <a:ext cx="82296" cy="82296"/>
          </a:xfrm>
          <a:prstGeom prst="ellipse">
            <a:avLst/>
          </a:prstGeom>
          <a:solidFill>
            <a:srgbClr val="02C39A">
              <a:alpha val="45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9985248" y="2596896"/>
            <a:ext cx="82296" cy="82296"/>
          </a:xfrm>
          <a:prstGeom prst="ellipse">
            <a:avLst/>
          </a:prstGeom>
          <a:solidFill>
            <a:srgbClr val="02C39A">
              <a:alpha val="45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10277856" y="548640"/>
            <a:ext cx="82296" cy="82296"/>
          </a:xfrm>
          <a:prstGeom prst="ellipse">
            <a:avLst/>
          </a:prstGeom>
          <a:solidFill>
            <a:srgbClr val="02C39A">
              <a:alpha val="45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10277856" y="841248"/>
            <a:ext cx="82296" cy="82296"/>
          </a:xfrm>
          <a:prstGeom prst="ellipse">
            <a:avLst/>
          </a:prstGeom>
          <a:solidFill>
            <a:srgbClr val="02C39A">
              <a:alpha val="45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10277856" y="1133856"/>
            <a:ext cx="82296" cy="82296"/>
          </a:xfrm>
          <a:prstGeom prst="ellipse">
            <a:avLst/>
          </a:prstGeom>
          <a:solidFill>
            <a:srgbClr val="02C39A">
              <a:alpha val="45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10277856" y="1426464"/>
            <a:ext cx="82296" cy="82296"/>
          </a:xfrm>
          <a:prstGeom prst="ellipse">
            <a:avLst/>
          </a:prstGeom>
          <a:solidFill>
            <a:srgbClr val="02C39A">
              <a:alpha val="45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10277856" y="1719072"/>
            <a:ext cx="82296" cy="82296"/>
          </a:xfrm>
          <a:prstGeom prst="ellipse">
            <a:avLst/>
          </a:prstGeom>
          <a:solidFill>
            <a:srgbClr val="02C39A">
              <a:alpha val="45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10277856" y="2011680"/>
            <a:ext cx="82296" cy="82296"/>
          </a:xfrm>
          <a:prstGeom prst="ellipse">
            <a:avLst/>
          </a:prstGeom>
          <a:solidFill>
            <a:srgbClr val="02C39A">
              <a:alpha val="45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10277856" y="2304288"/>
            <a:ext cx="82296" cy="82296"/>
          </a:xfrm>
          <a:prstGeom prst="ellipse">
            <a:avLst/>
          </a:prstGeom>
          <a:solidFill>
            <a:srgbClr val="02C39A">
              <a:alpha val="45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10277856" y="2596896"/>
            <a:ext cx="82296" cy="82296"/>
          </a:xfrm>
          <a:prstGeom prst="ellipse">
            <a:avLst/>
          </a:prstGeom>
          <a:solidFill>
            <a:srgbClr val="02C39A">
              <a:alpha val="45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10570464" y="548640"/>
            <a:ext cx="82296" cy="82296"/>
          </a:xfrm>
          <a:prstGeom prst="ellipse">
            <a:avLst/>
          </a:prstGeom>
          <a:solidFill>
            <a:srgbClr val="02C39A">
              <a:alpha val="45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10570464" y="841248"/>
            <a:ext cx="82296" cy="82296"/>
          </a:xfrm>
          <a:prstGeom prst="ellipse">
            <a:avLst/>
          </a:prstGeom>
          <a:solidFill>
            <a:srgbClr val="02C39A">
              <a:alpha val="45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10570464" y="1133856"/>
            <a:ext cx="82296" cy="82296"/>
          </a:xfrm>
          <a:prstGeom prst="ellipse">
            <a:avLst/>
          </a:prstGeom>
          <a:solidFill>
            <a:srgbClr val="02C39A">
              <a:alpha val="45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10570464" y="1426464"/>
            <a:ext cx="82296" cy="82296"/>
          </a:xfrm>
          <a:prstGeom prst="ellipse">
            <a:avLst/>
          </a:prstGeom>
          <a:solidFill>
            <a:srgbClr val="02C39A">
              <a:alpha val="45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10570464" y="1719072"/>
            <a:ext cx="82296" cy="82296"/>
          </a:xfrm>
          <a:prstGeom prst="ellipse">
            <a:avLst/>
          </a:prstGeom>
          <a:solidFill>
            <a:srgbClr val="02C39A">
              <a:alpha val="45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10570464" y="2011680"/>
            <a:ext cx="82296" cy="82296"/>
          </a:xfrm>
          <a:prstGeom prst="ellipse">
            <a:avLst/>
          </a:prstGeom>
          <a:solidFill>
            <a:srgbClr val="02C39A">
              <a:alpha val="45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10570464" y="2304288"/>
            <a:ext cx="82296" cy="82296"/>
          </a:xfrm>
          <a:prstGeom prst="ellipse">
            <a:avLst/>
          </a:prstGeom>
          <a:solidFill>
            <a:srgbClr val="02C39A">
              <a:alpha val="45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10570464" y="2596896"/>
            <a:ext cx="82296" cy="82296"/>
          </a:xfrm>
          <a:prstGeom prst="ellipse">
            <a:avLst/>
          </a:prstGeom>
          <a:solidFill>
            <a:srgbClr val="02C39A">
              <a:alpha val="45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10863072" y="548640"/>
            <a:ext cx="82296" cy="82296"/>
          </a:xfrm>
          <a:prstGeom prst="ellipse">
            <a:avLst/>
          </a:prstGeom>
          <a:solidFill>
            <a:srgbClr val="02C39A">
              <a:alpha val="45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10863072" y="841248"/>
            <a:ext cx="82296" cy="82296"/>
          </a:xfrm>
          <a:prstGeom prst="ellipse">
            <a:avLst/>
          </a:prstGeom>
          <a:solidFill>
            <a:srgbClr val="02C39A">
              <a:alpha val="45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10863072" y="1133856"/>
            <a:ext cx="82296" cy="82296"/>
          </a:xfrm>
          <a:prstGeom prst="ellipse">
            <a:avLst/>
          </a:prstGeom>
          <a:solidFill>
            <a:srgbClr val="02C39A">
              <a:alpha val="45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10863072" y="1426464"/>
            <a:ext cx="82296" cy="82296"/>
          </a:xfrm>
          <a:prstGeom prst="ellipse">
            <a:avLst/>
          </a:prstGeom>
          <a:solidFill>
            <a:srgbClr val="02C39A">
              <a:alpha val="45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10863072" y="1719072"/>
            <a:ext cx="82296" cy="82296"/>
          </a:xfrm>
          <a:prstGeom prst="ellipse">
            <a:avLst/>
          </a:prstGeom>
          <a:solidFill>
            <a:srgbClr val="02C39A">
              <a:alpha val="45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10863072" y="2011680"/>
            <a:ext cx="82296" cy="82296"/>
          </a:xfrm>
          <a:prstGeom prst="ellipse">
            <a:avLst/>
          </a:prstGeom>
          <a:solidFill>
            <a:srgbClr val="02C39A">
              <a:alpha val="45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10863072" y="2304288"/>
            <a:ext cx="82296" cy="82296"/>
          </a:xfrm>
          <a:prstGeom prst="ellipse">
            <a:avLst/>
          </a:prstGeom>
          <a:solidFill>
            <a:srgbClr val="02C39A">
              <a:alpha val="45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10863072" y="2596896"/>
            <a:ext cx="82296" cy="82296"/>
          </a:xfrm>
          <a:prstGeom prst="ellipse">
            <a:avLst/>
          </a:prstGeom>
          <a:solidFill>
            <a:srgbClr val="02C39A">
              <a:alpha val="45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11155680" y="548640"/>
            <a:ext cx="82296" cy="82296"/>
          </a:xfrm>
          <a:prstGeom prst="ellipse">
            <a:avLst/>
          </a:prstGeom>
          <a:solidFill>
            <a:srgbClr val="02C39A">
              <a:alpha val="45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11155680" y="841248"/>
            <a:ext cx="82296" cy="82296"/>
          </a:xfrm>
          <a:prstGeom prst="ellipse">
            <a:avLst/>
          </a:prstGeom>
          <a:solidFill>
            <a:srgbClr val="02C39A">
              <a:alpha val="45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11155680" y="1133856"/>
            <a:ext cx="82296" cy="82296"/>
          </a:xfrm>
          <a:prstGeom prst="ellipse">
            <a:avLst/>
          </a:prstGeom>
          <a:solidFill>
            <a:srgbClr val="02C39A">
              <a:alpha val="45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11155680" y="1426464"/>
            <a:ext cx="82296" cy="82296"/>
          </a:xfrm>
          <a:prstGeom prst="ellipse">
            <a:avLst/>
          </a:prstGeom>
          <a:solidFill>
            <a:srgbClr val="02C39A">
              <a:alpha val="45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11155680" y="1719072"/>
            <a:ext cx="82296" cy="82296"/>
          </a:xfrm>
          <a:prstGeom prst="ellipse">
            <a:avLst/>
          </a:prstGeom>
          <a:solidFill>
            <a:srgbClr val="02C39A">
              <a:alpha val="45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11155680" y="2011680"/>
            <a:ext cx="82296" cy="82296"/>
          </a:xfrm>
          <a:prstGeom prst="ellipse">
            <a:avLst/>
          </a:prstGeom>
          <a:solidFill>
            <a:srgbClr val="02C39A">
              <a:alpha val="45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11155680" y="2304288"/>
            <a:ext cx="82296" cy="82296"/>
          </a:xfrm>
          <a:prstGeom prst="ellipse">
            <a:avLst/>
          </a:prstGeom>
          <a:solidFill>
            <a:srgbClr val="02C39A">
              <a:alpha val="45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11155680" y="2596896"/>
            <a:ext cx="82296" cy="82296"/>
          </a:xfrm>
          <a:prstGeom prst="ellipse">
            <a:avLst/>
          </a:prstGeom>
          <a:solidFill>
            <a:srgbClr val="02C39A">
              <a:alpha val="45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11448288" y="548640"/>
            <a:ext cx="82296" cy="82296"/>
          </a:xfrm>
          <a:prstGeom prst="ellipse">
            <a:avLst/>
          </a:prstGeom>
          <a:solidFill>
            <a:srgbClr val="02C39A">
              <a:alpha val="45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11448288" y="841248"/>
            <a:ext cx="82296" cy="82296"/>
          </a:xfrm>
          <a:prstGeom prst="ellipse">
            <a:avLst/>
          </a:prstGeom>
          <a:solidFill>
            <a:srgbClr val="02C39A">
              <a:alpha val="45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11448288" y="1133856"/>
            <a:ext cx="82296" cy="82296"/>
          </a:xfrm>
          <a:prstGeom prst="ellipse">
            <a:avLst/>
          </a:prstGeom>
          <a:solidFill>
            <a:srgbClr val="02C39A">
              <a:alpha val="45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11448288" y="1426464"/>
            <a:ext cx="82296" cy="82296"/>
          </a:xfrm>
          <a:prstGeom prst="ellipse">
            <a:avLst/>
          </a:prstGeom>
          <a:solidFill>
            <a:srgbClr val="02C39A">
              <a:alpha val="45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11448288" y="1719072"/>
            <a:ext cx="82296" cy="82296"/>
          </a:xfrm>
          <a:prstGeom prst="ellipse">
            <a:avLst/>
          </a:prstGeom>
          <a:solidFill>
            <a:srgbClr val="02C39A">
              <a:alpha val="45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11448288" y="2011680"/>
            <a:ext cx="82296" cy="82296"/>
          </a:xfrm>
          <a:prstGeom prst="ellipse">
            <a:avLst/>
          </a:prstGeom>
          <a:solidFill>
            <a:srgbClr val="02C39A">
              <a:alpha val="45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11448288" y="2304288"/>
            <a:ext cx="82296" cy="82296"/>
          </a:xfrm>
          <a:prstGeom prst="ellipse">
            <a:avLst/>
          </a:prstGeom>
          <a:solidFill>
            <a:srgbClr val="02C39A">
              <a:alpha val="45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11448288" y="2596896"/>
            <a:ext cx="82296" cy="82296"/>
          </a:xfrm>
          <a:prstGeom prst="ellipse">
            <a:avLst/>
          </a:prstGeom>
          <a:solidFill>
            <a:srgbClr val="02C39A">
              <a:alpha val="45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11740896" y="548640"/>
            <a:ext cx="82296" cy="82296"/>
          </a:xfrm>
          <a:prstGeom prst="ellipse">
            <a:avLst/>
          </a:prstGeom>
          <a:solidFill>
            <a:srgbClr val="02C39A">
              <a:alpha val="45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11740896" y="841248"/>
            <a:ext cx="82296" cy="82296"/>
          </a:xfrm>
          <a:prstGeom prst="ellipse">
            <a:avLst/>
          </a:prstGeom>
          <a:solidFill>
            <a:srgbClr val="02C39A">
              <a:alpha val="45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11740896" y="1133856"/>
            <a:ext cx="82296" cy="82296"/>
          </a:xfrm>
          <a:prstGeom prst="ellipse">
            <a:avLst/>
          </a:prstGeom>
          <a:solidFill>
            <a:srgbClr val="02C39A">
              <a:alpha val="45000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11740896" y="1426464"/>
            <a:ext cx="82296" cy="82296"/>
          </a:xfrm>
          <a:prstGeom prst="ellipse">
            <a:avLst/>
          </a:prstGeom>
          <a:solidFill>
            <a:srgbClr val="02C39A">
              <a:alpha val="45000"/>
            </a:srgbClr>
          </a:solidFill>
          <a:ln/>
        </p:spPr>
      </p:sp>
      <p:sp>
        <p:nvSpPr>
          <p:cNvPr id="62" name="Shape 60"/>
          <p:cNvSpPr/>
          <p:nvPr/>
        </p:nvSpPr>
        <p:spPr>
          <a:xfrm>
            <a:off x="11740896" y="1719072"/>
            <a:ext cx="82296" cy="82296"/>
          </a:xfrm>
          <a:prstGeom prst="ellipse">
            <a:avLst/>
          </a:prstGeom>
          <a:solidFill>
            <a:srgbClr val="02C39A">
              <a:alpha val="45000"/>
            </a:srgbClr>
          </a:solidFill>
          <a:ln/>
        </p:spPr>
      </p:sp>
      <p:sp>
        <p:nvSpPr>
          <p:cNvPr id="63" name="Shape 61"/>
          <p:cNvSpPr/>
          <p:nvPr/>
        </p:nvSpPr>
        <p:spPr>
          <a:xfrm>
            <a:off x="11740896" y="2011680"/>
            <a:ext cx="82296" cy="82296"/>
          </a:xfrm>
          <a:prstGeom prst="ellipse">
            <a:avLst/>
          </a:prstGeom>
          <a:solidFill>
            <a:srgbClr val="02C39A">
              <a:alpha val="45000"/>
            </a:srgbClr>
          </a:solidFill>
          <a:ln/>
        </p:spPr>
      </p:sp>
      <p:sp>
        <p:nvSpPr>
          <p:cNvPr id="64" name="Shape 62"/>
          <p:cNvSpPr/>
          <p:nvPr/>
        </p:nvSpPr>
        <p:spPr>
          <a:xfrm>
            <a:off x="11740896" y="2304288"/>
            <a:ext cx="82296" cy="82296"/>
          </a:xfrm>
          <a:prstGeom prst="ellipse">
            <a:avLst/>
          </a:prstGeom>
          <a:solidFill>
            <a:srgbClr val="02C39A">
              <a:alpha val="45000"/>
            </a:srgbClr>
          </a:solidFill>
          <a:ln/>
        </p:spPr>
      </p:sp>
      <p:sp>
        <p:nvSpPr>
          <p:cNvPr id="65" name="Shape 63"/>
          <p:cNvSpPr/>
          <p:nvPr/>
        </p:nvSpPr>
        <p:spPr>
          <a:xfrm>
            <a:off x="11740896" y="2596896"/>
            <a:ext cx="82296" cy="82296"/>
          </a:xfrm>
          <a:prstGeom prst="ellipse">
            <a:avLst/>
          </a:prstGeom>
          <a:solidFill>
            <a:srgbClr val="02C39A">
              <a:alpha val="45000"/>
            </a:srgbClr>
          </a:solidFill>
          <a:ln/>
        </p:spPr>
      </p:sp>
      <p:sp>
        <p:nvSpPr>
          <p:cNvPr id="66" name="Shape 64"/>
          <p:cNvSpPr/>
          <p:nvPr/>
        </p:nvSpPr>
        <p:spPr>
          <a:xfrm>
            <a:off x="457200" y="5120640"/>
            <a:ext cx="73152" cy="73152"/>
          </a:xfrm>
          <a:prstGeom prst="ellipse">
            <a:avLst/>
          </a:prstGeom>
          <a:solidFill>
            <a:srgbClr val="00A896">
              <a:alpha val="35000"/>
            </a:srgbClr>
          </a:solidFill>
          <a:ln/>
        </p:spPr>
      </p:sp>
      <p:sp>
        <p:nvSpPr>
          <p:cNvPr id="67" name="Shape 65"/>
          <p:cNvSpPr/>
          <p:nvPr/>
        </p:nvSpPr>
        <p:spPr>
          <a:xfrm>
            <a:off x="457200" y="5394960"/>
            <a:ext cx="73152" cy="73152"/>
          </a:xfrm>
          <a:prstGeom prst="ellipse">
            <a:avLst/>
          </a:prstGeom>
          <a:solidFill>
            <a:srgbClr val="00A896">
              <a:alpha val="35000"/>
            </a:srgbClr>
          </a:solidFill>
          <a:ln/>
        </p:spPr>
      </p:sp>
      <p:sp>
        <p:nvSpPr>
          <p:cNvPr id="68" name="Shape 66"/>
          <p:cNvSpPr/>
          <p:nvPr/>
        </p:nvSpPr>
        <p:spPr>
          <a:xfrm>
            <a:off x="457200" y="5669280"/>
            <a:ext cx="73152" cy="73152"/>
          </a:xfrm>
          <a:prstGeom prst="ellipse">
            <a:avLst/>
          </a:prstGeom>
          <a:solidFill>
            <a:srgbClr val="00A896">
              <a:alpha val="35000"/>
            </a:srgbClr>
          </a:solidFill>
          <a:ln/>
        </p:spPr>
      </p:sp>
      <p:sp>
        <p:nvSpPr>
          <p:cNvPr id="69" name="Shape 67"/>
          <p:cNvSpPr/>
          <p:nvPr/>
        </p:nvSpPr>
        <p:spPr>
          <a:xfrm>
            <a:off x="457200" y="5943600"/>
            <a:ext cx="73152" cy="73152"/>
          </a:xfrm>
          <a:prstGeom prst="ellipse">
            <a:avLst/>
          </a:prstGeom>
          <a:solidFill>
            <a:srgbClr val="00A896">
              <a:alpha val="35000"/>
            </a:srgbClr>
          </a:solidFill>
          <a:ln/>
        </p:spPr>
      </p:sp>
      <p:sp>
        <p:nvSpPr>
          <p:cNvPr id="70" name="Shape 68"/>
          <p:cNvSpPr/>
          <p:nvPr/>
        </p:nvSpPr>
        <p:spPr>
          <a:xfrm>
            <a:off x="457200" y="6217920"/>
            <a:ext cx="73152" cy="73152"/>
          </a:xfrm>
          <a:prstGeom prst="ellipse">
            <a:avLst/>
          </a:prstGeom>
          <a:solidFill>
            <a:srgbClr val="00A896">
              <a:alpha val="35000"/>
            </a:srgbClr>
          </a:solidFill>
          <a:ln/>
        </p:spPr>
      </p:sp>
      <p:sp>
        <p:nvSpPr>
          <p:cNvPr id="71" name="Shape 69"/>
          <p:cNvSpPr/>
          <p:nvPr/>
        </p:nvSpPr>
        <p:spPr>
          <a:xfrm>
            <a:off x="457200" y="6492240"/>
            <a:ext cx="73152" cy="73152"/>
          </a:xfrm>
          <a:prstGeom prst="ellipse">
            <a:avLst/>
          </a:prstGeom>
          <a:solidFill>
            <a:srgbClr val="00A896">
              <a:alpha val="35000"/>
            </a:srgbClr>
          </a:solidFill>
          <a:ln/>
        </p:spPr>
      </p:sp>
      <p:sp>
        <p:nvSpPr>
          <p:cNvPr id="72" name="Shape 70"/>
          <p:cNvSpPr/>
          <p:nvPr/>
        </p:nvSpPr>
        <p:spPr>
          <a:xfrm>
            <a:off x="731520" y="5120640"/>
            <a:ext cx="73152" cy="73152"/>
          </a:xfrm>
          <a:prstGeom prst="ellipse">
            <a:avLst/>
          </a:prstGeom>
          <a:solidFill>
            <a:srgbClr val="00A896">
              <a:alpha val="35000"/>
            </a:srgbClr>
          </a:solidFill>
          <a:ln/>
        </p:spPr>
      </p:sp>
      <p:sp>
        <p:nvSpPr>
          <p:cNvPr id="73" name="Shape 71"/>
          <p:cNvSpPr/>
          <p:nvPr/>
        </p:nvSpPr>
        <p:spPr>
          <a:xfrm>
            <a:off x="731520" y="5394960"/>
            <a:ext cx="73152" cy="73152"/>
          </a:xfrm>
          <a:prstGeom prst="ellipse">
            <a:avLst/>
          </a:prstGeom>
          <a:solidFill>
            <a:srgbClr val="00A896">
              <a:alpha val="35000"/>
            </a:srgbClr>
          </a:solidFill>
          <a:ln/>
        </p:spPr>
      </p:sp>
      <p:sp>
        <p:nvSpPr>
          <p:cNvPr id="74" name="Shape 72"/>
          <p:cNvSpPr/>
          <p:nvPr/>
        </p:nvSpPr>
        <p:spPr>
          <a:xfrm>
            <a:off x="731520" y="5669280"/>
            <a:ext cx="73152" cy="73152"/>
          </a:xfrm>
          <a:prstGeom prst="ellipse">
            <a:avLst/>
          </a:prstGeom>
          <a:solidFill>
            <a:srgbClr val="00A896">
              <a:alpha val="35000"/>
            </a:srgbClr>
          </a:solidFill>
          <a:ln/>
        </p:spPr>
      </p:sp>
      <p:sp>
        <p:nvSpPr>
          <p:cNvPr id="75" name="Shape 73"/>
          <p:cNvSpPr/>
          <p:nvPr/>
        </p:nvSpPr>
        <p:spPr>
          <a:xfrm>
            <a:off x="731520" y="5943600"/>
            <a:ext cx="73152" cy="73152"/>
          </a:xfrm>
          <a:prstGeom prst="ellipse">
            <a:avLst/>
          </a:prstGeom>
          <a:solidFill>
            <a:srgbClr val="00A896">
              <a:alpha val="35000"/>
            </a:srgbClr>
          </a:solidFill>
          <a:ln/>
        </p:spPr>
      </p:sp>
      <p:sp>
        <p:nvSpPr>
          <p:cNvPr id="76" name="Shape 74"/>
          <p:cNvSpPr/>
          <p:nvPr/>
        </p:nvSpPr>
        <p:spPr>
          <a:xfrm>
            <a:off x="731520" y="6217920"/>
            <a:ext cx="73152" cy="73152"/>
          </a:xfrm>
          <a:prstGeom prst="ellipse">
            <a:avLst/>
          </a:prstGeom>
          <a:solidFill>
            <a:srgbClr val="00A896">
              <a:alpha val="35000"/>
            </a:srgbClr>
          </a:solidFill>
          <a:ln/>
        </p:spPr>
      </p:sp>
      <p:sp>
        <p:nvSpPr>
          <p:cNvPr id="77" name="Shape 75"/>
          <p:cNvSpPr/>
          <p:nvPr/>
        </p:nvSpPr>
        <p:spPr>
          <a:xfrm>
            <a:off x="731520" y="6492240"/>
            <a:ext cx="73152" cy="73152"/>
          </a:xfrm>
          <a:prstGeom prst="ellipse">
            <a:avLst/>
          </a:prstGeom>
          <a:solidFill>
            <a:srgbClr val="00A896">
              <a:alpha val="35000"/>
            </a:srgbClr>
          </a:solidFill>
          <a:ln/>
        </p:spPr>
      </p:sp>
      <p:sp>
        <p:nvSpPr>
          <p:cNvPr id="78" name="Shape 76"/>
          <p:cNvSpPr/>
          <p:nvPr/>
        </p:nvSpPr>
        <p:spPr>
          <a:xfrm>
            <a:off x="1005840" y="5120640"/>
            <a:ext cx="73152" cy="73152"/>
          </a:xfrm>
          <a:prstGeom prst="ellipse">
            <a:avLst/>
          </a:prstGeom>
          <a:solidFill>
            <a:srgbClr val="00A896">
              <a:alpha val="35000"/>
            </a:srgbClr>
          </a:solidFill>
          <a:ln/>
        </p:spPr>
      </p:sp>
      <p:sp>
        <p:nvSpPr>
          <p:cNvPr id="79" name="Shape 77"/>
          <p:cNvSpPr/>
          <p:nvPr/>
        </p:nvSpPr>
        <p:spPr>
          <a:xfrm>
            <a:off x="1005840" y="5394960"/>
            <a:ext cx="73152" cy="73152"/>
          </a:xfrm>
          <a:prstGeom prst="ellipse">
            <a:avLst/>
          </a:prstGeom>
          <a:solidFill>
            <a:srgbClr val="00A896">
              <a:alpha val="35000"/>
            </a:srgbClr>
          </a:solidFill>
          <a:ln/>
        </p:spPr>
      </p:sp>
      <p:sp>
        <p:nvSpPr>
          <p:cNvPr id="80" name="Shape 78"/>
          <p:cNvSpPr/>
          <p:nvPr/>
        </p:nvSpPr>
        <p:spPr>
          <a:xfrm>
            <a:off x="1005840" y="5669280"/>
            <a:ext cx="73152" cy="73152"/>
          </a:xfrm>
          <a:prstGeom prst="ellipse">
            <a:avLst/>
          </a:prstGeom>
          <a:solidFill>
            <a:srgbClr val="00A896">
              <a:alpha val="35000"/>
            </a:srgbClr>
          </a:solidFill>
          <a:ln/>
        </p:spPr>
      </p:sp>
      <p:sp>
        <p:nvSpPr>
          <p:cNvPr id="81" name="Shape 79"/>
          <p:cNvSpPr/>
          <p:nvPr/>
        </p:nvSpPr>
        <p:spPr>
          <a:xfrm>
            <a:off x="1005840" y="5943600"/>
            <a:ext cx="73152" cy="73152"/>
          </a:xfrm>
          <a:prstGeom prst="ellipse">
            <a:avLst/>
          </a:prstGeom>
          <a:solidFill>
            <a:srgbClr val="00A896">
              <a:alpha val="35000"/>
            </a:srgbClr>
          </a:solidFill>
          <a:ln/>
        </p:spPr>
      </p:sp>
      <p:sp>
        <p:nvSpPr>
          <p:cNvPr id="82" name="Shape 80"/>
          <p:cNvSpPr/>
          <p:nvPr/>
        </p:nvSpPr>
        <p:spPr>
          <a:xfrm>
            <a:off x="1005840" y="6217920"/>
            <a:ext cx="73152" cy="73152"/>
          </a:xfrm>
          <a:prstGeom prst="ellipse">
            <a:avLst/>
          </a:prstGeom>
          <a:solidFill>
            <a:srgbClr val="00A896">
              <a:alpha val="35000"/>
            </a:srgbClr>
          </a:solidFill>
          <a:ln/>
        </p:spPr>
      </p:sp>
      <p:sp>
        <p:nvSpPr>
          <p:cNvPr id="83" name="Shape 81"/>
          <p:cNvSpPr/>
          <p:nvPr/>
        </p:nvSpPr>
        <p:spPr>
          <a:xfrm>
            <a:off x="1005840" y="6492240"/>
            <a:ext cx="73152" cy="73152"/>
          </a:xfrm>
          <a:prstGeom prst="ellipse">
            <a:avLst/>
          </a:prstGeom>
          <a:solidFill>
            <a:srgbClr val="00A896">
              <a:alpha val="35000"/>
            </a:srgbClr>
          </a:solidFill>
          <a:ln/>
        </p:spPr>
      </p:sp>
      <p:sp>
        <p:nvSpPr>
          <p:cNvPr id="84" name="Shape 82"/>
          <p:cNvSpPr/>
          <p:nvPr/>
        </p:nvSpPr>
        <p:spPr>
          <a:xfrm>
            <a:off x="1280160" y="5120640"/>
            <a:ext cx="73152" cy="73152"/>
          </a:xfrm>
          <a:prstGeom prst="ellipse">
            <a:avLst/>
          </a:prstGeom>
          <a:solidFill>
            <a:srgbClr val="00A896">
              <a:alpha val="35000"/>
            </a:srgbClr>
          </a:solidFill>
          <a:ln/>
        </p:spPr>
      </p:sp>
      <p:sp>
        <p:nvSpPr>
          <p:cNvPr id="85" name="Shape 83"/>
          <p:cNvSpPr/>
          <p:nvPr/>
        </p:nvSpPr>
        <p:spPr>
          <a:xfrm>
            <a:off x="1280160" y="5394960"/>
            <a:ext cx="73152" cy="73152"/>
          </a:xfrm>
          <a:prstGeom prst="ellipse">
            <a:avLst/>
          </a:prstGeom>
          <a:solidFill>
            <a:srgbClr val="00A896">
              <a:alpha val="35000"/>
            </a:srgbClr>
          </a:solidFill>
          <a:ln/>
        </p:spPr>
      </p:sp>
      <p:sp>
        <p:nvSpPr>
          <p:cNvPr id="86" name="Shape 84"/>
          <p:cNvSpPr/>
          <p:nvPr/>
        </p:nvSpPr>
        <p:spPr>
          <a:xfrm>
            <a:off x="1280160" y="5669280"/>
            <a:ext cx="73152" cy="73152"/>
          </a:xfrm>
          <a:prstGeom prst="ellipse">
            <a:avLst/>
          </a:prstGeom>
          <a:solidFill>
            <a:srgbClr val="00A896">
              <a:alpha val="35000"/>
            </a:srgbClr>
          </a:solidFill>
          <a:ln/>
        </p:spPr>
      </p:sp>
      <p:sp>
        <p:nvSpPr>
          <p:cNvPr id="87" name="Shape 85"/>
          <p:cNvSpPr/>
          <p:nvPr/>
        </p:nvSpPr>
        <p:spPr>
          <a:xfrm>
            <a:off x="1280160" y="5943600"/>
            <a:ext cx="73152" cy="73152"/>
          </a:xfrm>
          <a:prstGeom prst="ellipse">
            <a:avLst/>
          </a:prstGeom>
          <a:solidFill>
            <a:srgbClr val="00A896">
              <a:alpha val="35000"/>
            </a:srgbClr>
          </a:solidFill>
          <a:ln/>
        </p:spPr>
      </p:sp>
      <p:sp>
        <p:nvSpPr>
          <p:cNvPr id="88" name="Shape 86"/>
          <p:cNvSpPr/>
          <p:nvPr/>
        </p:nvSpPr>
        <p:spPr>
          <a:xfrm>
            <a:off x="1280160" y="6217920"/>
            <a:ext cx="73152" cy="73152"/>
          </a:xfrm>
          <a:prstGeom prst="ellipse">
            <a:avLst/>
          </a:prstGeom>
          <a:solidFill>
            <a:srgbClr val="00A896">
              <a:alpha val="35000"/>
            </a:srgbClr>
          </a:solidFill>
          <a:ln/>
        </p:spPr>
      </p:sp>
      <p:sp>
        <p:nvSpPr>
          <p:cNvPr id="89" name="Shape 87"/>
          <p:cNvSpPr/>
          <p:nvPr/>
        </p:nvSpPr>
        <p:spPr>
          <a:xfrm>
            <a:off x="1280160" y="6492240"/>
            <a:ext cx="73152" cy="73152"/>
          </a:xfrm>
          <a:prstGeom prst="ellipse">
            <a:avLst/>
          </a:prstGeom>
          <a:solidFill>
            <a:srgbClr val="00A896">
              <a:alpha val="35000"/>
            </a:srgbClr>
          </a:solidFill>
          <a:ln/>
        </p:spPr>
      </p:sp>
      <p:sp>
        <p:nvSpPr>
          <p:cNvPr id="90" name="Shape 88"/>
          <p:cNvSpPr/>
          <p:nvPr/>
        </p:nvSpPr>
        <p:spPr>
          <a:xfrm>
            <a:off x="1554480" y="5120640"/>
            <a:ext cx="73152" cy="73152"/>
          </a:xfrm>
          <a:prstGeom prst="ellipse">
            <a:avLst/>
          </a:prstGeom>
          <a:solidFill>
            <a:srgbClr val="00A896">
              <a:alpha val="35000"/>
            </a:srgbClr>
          </a:solidFill>
          <a:ln/>
        </p:spPr>
      </p:sp>
      <p:sp>
        <p:nvSpPr>
          <p:cNvPr id="91" name="Shape 89"/>
          <p:cNvSpPr/>
          <p:nvPr/>
        </p:nvSpPr>
        <p:spPr>
          <a:xfrm>
            <a:off x="1554480" y="5394960"/>
            <a:ext cx="73152" cy="73152"/>
          </a:xfrm>
          <a:prstGeom prst="ellipse">
            <a:avLst/>
          </a:prstGeom>
          <a:solidFill>
            <a:srgbClr val="00A896">
              <a:alpha val="35000"/>
            </a:srgbClr>
          </a:solidFill>
          <a:ln/>
        </p:spPr>
      </p:sp>
      <p:sp>
        <p:nvSpPr>
          <p:cNvPr id="92" name="Shape 90"/>
          <p:cNvSpPr/>
          <p:nvPr/>
        </p:nvSpPr>
        <p:spPr>
          <a:xfrm>
            <a:off x="1554480" y="5669280"/>
            <a:ext cx="73152" cy="73152"/>
          </a:xfrm>
          <a:prstGeom prst="ellipse">
            <a:avLst/>
          </a:prstGeom>
          <a:solidFill>
            <a:srgbClr val="00A896">
              <a:alpha val="35000"/>
            </a:srgbClr>
          </a:solidFill>
          <a:ln/>
        </p:spPr>
      </p:sp>
      <p:sp>
        <p:nvSpPr>
          <p:cNvPr id="93" name="Shape 91"/>
          <p:cNvSpPr/>
          <p:nvPr/>
        </p:nvSpPr>
        <p:spPr>
          <a:xfrm>
            <a:off x="1554480" y="5943600"/>
            <a:ext cx="73152" cy="73152"/>
          </a:xfrm>
          <a:prstGeom prst="ellipse">
            <a:avLst/>
          </a:prstGeom>
          <a:solidFill>
            <a:srgbClr val="00A896">
              <a:alpha val="35000"/>
            </a:srgbClr>
          </a:solidFill>
          <a:ln/>
        </p:spPr>
      </p:sp>
      <p:sp>
        <p:nvSpPr>
          <p:cNvPr id="94" name="Shape 92"/>
          <p:cNvSpPr/>
          <p:nvPr/>
        </p:nvSpPr>
        <p:spPr>
          <a:xfrm>
            <a:off x="1554480" y="6217920"/>
            <a:ext cx="73152" cy="73152"/>
          </a:xfrm>
          <a:prstGeom prst="ellipse">
            <a:avLst/>
          </a:prstGeom>
          <a:solidFill>
            <a:srgbClr val="00A896">
              <a:alpha val="35000"/>
            </a:srgbClr>
          </a:solidFill>
          <a:ln/>
        </p:spPr>
      </p:sp>
      <p:sp>
        <p:nvSpPr>
          <p:cNvPr id="95" name="Shape 93"/>
          <p:cNvSpPr/>
          <p:nvPr/>
        </p:nvSpPr>
        <p:spPr>
          <a:xfrm>
            <a:off x="1554480" y="6492240"/>
            <a:ext cx="73152" cy="73152"/>
          </a:xfrm>
          <a:prstGeom prst="ellipse">
            <a:avLst/>
          </a:prstGeom>
          <a:solidFill>
            <a:srgbClr val="00A896">
              <a:alpha val="35000"/>
            </a:srgbClr>
          </a:solidFill>
          <a:ln/>
        </p:spPr>
      </p:sp>
      <p:sp>
        <p:nvSpPr>
          <p:cNvPr id="96" name="Shape 94"/>
          <p:cNvSpPr/>
          <p:nvPr/>
        </p:nvSpPr>
        <p:spPr>
          <a:xfrm>
            <a:off x="1828800" y="5120640"/>
            <a:ext cx="73152" cy="73152"/>
          </a:xfrm>
          <a:prstGeom prst="ellipse">
            <a:avLst/>
          </a:prstGeom>
          <a:solidFill>
            <a:srgbClr val="00A896">
              <a:alpha val="35000"/>
            </a:srgbClr>
          </a:solidFill>
          <a:ln/>
        </p:spPr>
      </p:sp>
      <p:sp>
        <p:nvSpPr>
          <p:cNvPr id="97" name="Shape 95"/>
          <p:cNvSpPr/>
          <p:nvPr/>
        </p:nvSpPr>
        <p:spPr>
          <a:xfrm>
            <a:off x="1828800" y="5394960"/>
            <a:ext cx="73152" cy="73152"/>
          </a:xfrm>
          <a:prstGeom prst="ellipse">
            <a:avLst/>
          </a:prstGeom>
          <a:solidFill>
            <a:srgbClr val="00A896">
              <a:alpha val="35000"/>
            </a:srgbClr>
          </a:solidFill>
          <a:ln/>
        </p:spPr>
      </p:sp>
      <p:sp>
        <p:nvSpPr>
          <p:cNvPr id="98" name="Shape 96"/>
          <p:cNvSpPr/>
          <p:nvPr/>
        </p:nvSpPr>
        <p:spPr>
          <a:xfrm>
            <a:off x="1828800" y="5669280"/>
            <a:ext cx="73152" cy="73152"/>
          </a:xfrm>
          <a:prstGeom prst="ellipse">
            <a:avLst/>
          </a:prstGeom>
          <a:solidFill>
            <a:srgbClr val="00A896">
              <a:alpha val="35000"/>
            </a:srgbClr>
          </a:solidFill>
          <a:ln/>
        </p:spPr>
      </p:sp>
      <p:sp>
        <p:nvSpPr>
          <p:cNvPr id="99" name="Shape 97"/>
          <p:cNvSpPr/>
          <p:nvPr/>
        </p:nvSpPr>
        <p:spPr>
          <a:xfrm>
            <a:off x="1828800" y="5943600"/>
            <a:ext cx="73152" cy="73152"/>
          </a:xfrm>
          <a:prstGeom prst="ellipse">
            <a:avLst/>
          </a:prstGeom>
          <a:solidFill>
            <a:srgbClr val="00A896">
              <a:alpha val="35000"/>
            </a:srgbClr>
          </a:solidFill>
          <a:ln/>
        </p:spPr>
      </p:sp>
      <p:sp>
        <p:nvSpPr>
          <p:cNvPr id="100" name="Shape 98"/>
          <p:cNvSpPr/>
          <p:nvPr/>
        </p:nvSpPr>
        <p:spPr>
          <a:xfrm>
            <a:off x="1828800" y="6217920"/>
            <a:ext cx="73152" cy="73152"/>
          </a:xfrm>
          <a:prstGeom prst="ellipse">
            <a:avLst/>
          </a:prstGeom>
          <a:solidFill>
            <a:srgbClr val="00A896">
              <a:alpha val="35000"/>
            </a:srgbClr>
          </a:solidFill>
          <a:ln/>
        </p:spPr>
      </p:sp>
      <p:sp>
        <p:nvSpPr>
          <p:cNvPr id="101" name="Shape 99"/>
          <p:cNvSpPr/>
          <p:nvPr/>
        </p:nvSpPr>
        <p:spPr>
          <a:xfrm>
            <a:off x="1828800" y="6492240"/>
            <a:ext cx="73152" cy="73152"/>
          </a:xfrm>
          <a:prstGeom prst="ellipse">
            <a:avLst/>
          </a:prstGeom>
          <a:solidFill>
            <a:srgbClr val="00A896">
              <a:alpha val="35000"/>
            </a:srgbClr>
          </a:solidFill>
          <a:ln/>
        </p:spPr>
      </p:sp>
      <p:sp>
        <p:nvSpPr>
          <p:cNvPr id="102" name="Text 100"/>
          <p:cNvSpPr/>
          <p:nvPr/>
        </p:nvSpPr>
        <p:spPr>
          <a:xfrm>
            <a:off x="822960" y="19659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WITH LIBRARIES</a:t>
            </a:r>
            <a:endParaRPr lang="en-US" sz="1400" dirty="0"/>
          </a:p>
        </p:txBody>
      </p:sp>
      <p:sp>
        <p:nvSpPr>
          <p:cNvPr id="103" name="Text 101"/>
          <p:cNvSpPr/>
          <p:nvPr/>
        </p:nvSpPr>
        <p:spPr>
          <a:xfrm>
            <a:off x="777240" y="2286000"/>
            <a:ext cx="96012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NumPy for Numerical</a:t>
            </a:r>
            <a:endParaRPr lang="en-US" sz="4400" dirty="0"/>
          </a:p>
          <a:p>
            <a:pPr indent="0" marL="0">
              <a:lnSpc>
                <a:spcPts val="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Analysis</a:t>
            </a:r>
            <a:endParaRPr lang="en-US" sz="4400" dirty="0"/>
          </a:p>
        </p:txBody>
      </p:sp>
      <p:sp>
        <p:nvSpPr>
          <p:cNvPr id="104" name="Text 102"/>
          <p:cNvSpPr/>
          <p:nvPr/>
        </p:nvSpPr>
        <p:spPr>
          <a:xfrm>
            <a:off x="822960" y="41605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BFE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Arrays, vectorization, and the computational core of Python data science</a:t>
            </a:r>
            <a:endParaRPr lang="en-US" sz="1600" dirty="0"/>
          </a:p>
        </p:txBody>
      </p:sp>
      <p:sp>
        <p:nvSpPr>
          <p:cNvPr id="105" name="Shape 103"/>
          <p:cNvSpPr/>
          <p:nvPr/>
        </p:nvSpPr>
        <p:spPr>
          <a:xfrm>
            <a:off x="10332720" y="5120640"/>
            <a:ext cx="1005840" cy="100584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10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54005" y="5341925"/>
            <a:ext cx="563270" cy="563270"/>
          </a:xfrm>
          <a:prstGeom prst="rect">
            <a:avLst/>
          </a:prstGeom>
        </p:spPr>
      </p:pic>
      <p:sp>
        <p:nvSpPr>
          <p:cNvPr id="107" name="Text 104"/>
          <p:cNvSpPr/>
          <p:nvPr/>
        </p:nvSpPr>
        <p:spPr>
          <a:xfrm>
            <a:off x="822960" y="61264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C7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Presentation on Numerical Computing in Python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D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We'll Cover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64240" cy="731520"/>
          </a:xfrm>
          <a:prstGeom prst="roundRect">
            <a:avLst>
              <a:gd name="adj" fmla="val 10000"/>
            </a:avLst>
          </a:prstGeom>
          <a:solidFill>
            <a:srgbClr val="F0F7F6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709928"/>
            <a:ext cx="512064" cy="512064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70992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508760" y="1655064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577840" y="1655064"/>
            <a:ext cx="5852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NumPy is, why it exists, and the ndarray object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2496312"/>
            <a:ext cx="11064240" cy="731520"/>
          </a:xfrm>
          <a:prstGeom prst="roundRect">
            <a:avLst>
              <a:gd name="adj" fmla="val 10000"/>
            </a:avLst>
          </a:prstGeom>
          <a:solidFill>
            <a:srgbClr val="F0F7F6"/>
          </a:solidFill>
          <a:ln/>
        </p:spPr>
      </p:sp>
      <p:sp>
        <p:nvSpPr>
          <p:cNvPr id="10" name="Shape 8"/>
          <p:cNvSpPr/>
          <p:nvPr/>
        </p:nvSpPr>
        <p:spPr>
          <a:xfrm>
            <a:off x="777240" y="2606040"/>
            <a:ext cx="512064" cy="512064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260604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508760" y="2551176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with Arrays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577840" y="2551176"/>
            <a:ext cx="5852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Creating, indexing, slicing, and reshaping data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3392424"/>
            <a:ext cx="11064240" cy="731520"/>
          </a:xfrm>
          <a:prstGeom prst="roundRect">
            <a:avLst>
              <a:gd name="adj" fmla="val 10000"/>
            </a:avLst>
          </a:prstGeom>
          <a:solidFill>
            <a:srgbClr val="F0F7F6"/>
          </a:solidFill>
          <a:ln/>
        </p:spPr>
      </p:sp>
      <p:sp>
        <p:nvSpPr>
          <p:cNvPr id="15" name="Shape 13"/>
          <p:cNvSpPr/>
          <p:nvPr/>
        </p:nvSpPr>
        <p:spPr>
          <a:xfrm>
            <a:off x="777240" y="3502152"/>
            <a:ext cx="512064" cy="512064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3502152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08760" y="3447288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Computation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577840" y="3447288"/>
            <a:ext cx="5852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Vectorized operations, broadcasting, and universal functions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48640" y="4288536"/>
            <a:ext cx="11064240" cy="731520"/>
          </a:xfrm>
          <a:prstGeom prst="roundRect">
            <a:avLst>
              <a:gd name="adj" fmla="val 10000"/>
            </a:avLst>
          </a:prstGeom>
          <a:solidFill>
            <a:srgbClr val="F0F7F6"/>
          </a:solidFill>
          <a:ln/>
        </p:spPr>
      </p:sp>
      <p:sp>
        <p:nvSpPr>
          <p:cNvPr id="20" name="Shape 18"/>
          <p:cNvSpPr/>
          <p:nvPr/>
        </p:nvSpPr>
        <p:spPr>
          <a:xfrm>
            <a:off x="777240" y="4398264"/>
            <a:ext cx="512064" cy="512064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4398264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508760" y="434340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Toolkit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577840" y="4343400"/>
            <a:ext cx="5852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Statistics, linear algebra, random sampling, missing data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548640" y="5184648"/>
            <a:ext cx="11064240" cy="731520"/>
          </a:xfrm>
          <a:prstGeom prst="roundRect">
            <a:avLst>
              <a:gd name="adj" fmla="val 10000"/>
            </a:avLst>
          </a:prstGeom>
          <a:solidFill>
            <a:srgbClr val="F0F7F6"/>
          </a:solidFill>
          <a:ln/>
        </p:spPr>
      </p:sp>
      <p:sp>
        <p:nvSpPr>
          <p:cNvPr id="25" name="Shape 23"/>
          <p:cNvSpPr/>
          <p:nvPr/>
        </p:nvSpPr>
        <p:spPr>
          <a:xfrm>
            <a:off x="777240" y="5294376"/>
            <a:ext cx="512064" cy="512064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6" name="Text 24"/>
          <p:cNvSpPr/>
          <p:nvPr/>
        </p:nvSpPr>
        <p:spPr>
          <a:xfrm>
            <a:off x="777240" y="5294376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508760" y="5239512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Practice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5577840" y="5239512"/>
            <a:ext cx="5852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gains and NumPy's place in the data stack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 for Numerical Data Analysis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61288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D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NumPy?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55778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1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 (Numerical Python) is the core library for scientific and numerical computing in Python. </a:t>
            </a:r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1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provides a fast, memory-efficient array object and the mathematical machinery to operate on it at scale.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306324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9282" y="3173882"/>
            <a:ext cx="281635" cy="28163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34440" y="3035808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1234440" y="3337560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operations run in pre-compiled C, avoiding slow Python-level loops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48640" y="4050792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282" y="4161434"/>
            <a:ext cx="281635" cy="281635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234440" y="402336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ndarray</a:t>
            </a:r>
            <a:endParaRPr lang="en-US" sz="1450" dirty="0"/>
          </a:p>
        </p:txBody>
      </p:sp>
      <p:sp>
        <p:nvSpPr>
          <p:cNvPr id="12" name="Text 8"/>
          <p:cNvSpPr/>
          <p:nvPr/>
        </p:nvSpPr>
        <p:spPr>
          <a:xfrm>
            <a:off x="1234440" y="4325112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single, uniform, n-dimensional array type replaces nested Python lists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548640" y="5038344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282" y="5148986"/>
            <a:ext cx="281635" cy="281635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234440" y="5010912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Vectorization</a:t>
            </a:r>
            <a:endParaRPr lang="en-US" sz="1450" dirty="0"/>
          </a:p>
        </p:txBody>
      </p:sp>
      <p:sp>
        <p:nvSpPr>
          <p:cNvPr id="16" name="Text 11"/>
          <p:cNvSpPr/>
          <p:nvPr/>
        </p:nvSpPr>
        <p:spPr>
          <a:xfrm>
            <a:off x="1234440" y="5312664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Whole-array math expressed in one line instead of manual iteration</a:t>
            </a:r>
            <a:endParaRPr lang="en-US" sz="1200" dirty="0"/>
          </a:p>
        </p:txBody>
      </p:sp>
      <p:sp>
        <p:nvSpPr>
          <p:cNvPr id="17" name="Shape 12"/>
          <p:cNvSpPr/>
          <p:nvPr/>
        </p:nvSpPr>
        <p:spPr>
          <a:xfrm>
            <a:off x="6675120" y="1463040"/>
            <a:ext cx="4937760" cy="4480560"/>
          </a:xfrm>
          <a:prstGeom prst="roundRect">
            <a:avLst>
              <a:gd name="adj" fmla="val 2041"/>
            </a:avLst>
          </a:prstGeom>
          <a:solidFill>
            <a:srgbClr val="073B3A"/>
          </a:solidFill>
          <a:ln/>
        </p:spPr>
      </p:sp>
      <p:sp>
        <p:nvSpPr>
          <p:cNvPr id="18" name="Text 13"/>
          <p:cNvSpPr/>
          <p:nvPr/>
        </p:nvSpPr>
        <p:spPr>
          <a:xfrm>
            <a:off x="7040880" y="169164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not just use Python lists?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8732520" y="2103120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9C6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List</a:t>
            </a:r>
            <a:endParaRPr lang="en-US" sz="1100" dirty="0"/>
          </a:p>
        </p:txBody>
      </p:sp>
      <p:sp>
        <p:nvSpPr>
          <p:cNvPr id="20" name="Text 15"/>
          <p:cNvSpPr/>
          <p:nvPr/>
        </p:nvSpPr>
        <p:spPr>
          <a:xfrm>
            <a:off x="10104120" y="2103120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 Array</a:t>
            </a:r>
            <a:endParaRPr lang="en-US" sz="1100" dirty="0"/>
          </a:p>
        </p:txBody>
      </p:sp>
      <p:sp>
        <p:nvSpPr>
          <p:cNvPr id="21" name="Text 16"/>
          <p:cNvSpPr/>
          <p:nvPr/>
        </p:nvSpPr>
        <p:spPr>
          <a:xfrm>
            <a:off x="7040880" y="2240280"/>
            <a:ext cx="1600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</a:t>
            </a:r>
            <a:endParaRPr lang="en-US" sz="1050" dirty="0"/>
          </a:p>
        </p:txBody>
      </p:sp>
      <p:sp>
        <p:nvSpPr>
          <p:cNvPr id="22" name="Text 17"/>
          <p:cNvSpPr/>
          <p:nvPr/>
        </p:nvSpPr>
        <p:spPr>
          <a:xfrm>
            <a:off x="8686800" y="2240280"/>
            <a:ext cx="1463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7D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Boxed objects, scattered in memory</a:t>
            </a:r>
            <a:endParaRPr lang="en-US" sz="950" dirty="0"/>
          </a:p>
        </p:txBody>
      </p:sp>
      <p:sp>
        <p:nvSpPr>
          <p:cNvPr id="23" name="Text 18"/>
          <p:cNvSpPr/>
          <p:nvPr/>
        </p:nvSpPr>
        <p:spPr>
          <a:xfrm>
            <a:off x="10104120" y="2240280"/>
            <a:ext cx="1417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Contiguous, fixed-type buffer</a:t>
            </a:r>
            <a:endParaRPr lang="en-US" sz="950" dirty="0"/>
          </a:p>
        </p:txBody>
      </p:sp>
      <p:sp>
        <p:nvSpPr>
          <p:cNvPr id="24" name="Text 19"/>
          <p:cNvSpPr/>
          <p:nvPr/>
        </p:nvSpPr>
        <p:spPr>
          <a:xfrm>
            <a:off x="7040880" y="2953512"/>
            <a:ext cx="1600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 on all items</a:t>
            </a:r>
            <a:endParaRPr lang="en-US" sz="1050" dirty="0"/>
          </a:p>
        </p:txBody>
      </p:sp>
      <p:sp>
        <p:nvSpPr>
          <p:cNvPr id="25" name="Text 20"/>
          <p:cNvSpPr/>
          <p:nvPr/>
        </p:nvSpPr>
        <p:spPr>
          <a:xfrm>
            <a:off x="8686800" y="2953512"/>
            <a:ext cx="1463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7D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an explicit loop</a:t>
            </a:r>
            <a:endParaRPr lang="en-US" sz="950" dirty="0"/>
          </a:p>
        </p:txBody>
      </p:sp>
      <p:sp>
        <p:nvSpPr>
          <p:cNvPr id="26" name="Text 21"/>
          <p:cNvSpPr/>
          <p:nvPr/>
        </p:nvSpPr>
        <p:spPr>
          <a:xfrm>
            <a:off x="10104120" y="2953512"/>
            <a:ext cx="1417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vectorized expression</a:t>
            </a:r>
            <a:endParaRPr lang="en-US" sz="950" dirty="0"/>
          </a:p>
        </p:txBody>
      </p:sp>
      <p:sp>
        <p:nvSpPr>
          <p:cNvPr id="27" name="Text 22"/>
          <p:cNvSpPr/>
          <p:nvPr/>
        </p:nvSpPr>
        <p:spPr>
          <a:xfrm>
            <a:off x="7040880" y="3666744"/>
            <a:ext cx="1600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 (large data)</a:t>
            </a:r>
            <a:endParaRPr lang="en-US" sz="1050" dirty="0"/>
          </a:p>
        </p:txBody>
      </p:sp>
      <p:sp>
        <p:nvSpPr>
          <p:cNvPr id="28" name="Text 23"/>
          <p:cNvSpPr/>
          <p:nvPr/>
        </p:nvSpPr>
        <p:spPr>
          <a:xfrm>
            <a:off x="8686800" y="3666744"/>
            <a:ext cx="1463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7D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— pure Python overhead</a:t>
            </a:r>
            <a:endParaRPr lang="en-US" sz="950" dirty="0"/>
          </a:p>
        </p:txBody>
      </p:sp>
      <p:sp>
        <p:nvSpPr>
          <p:cNvPr id="29" name="Text 24"/>
          <p:cNvSpPr/>
          <p:nvPr/>
        </p:nvSpPr>
        <p:spPr>
          <a:xfrm>
            <a:off x="10104120" y="3666744"/>
            <a:ext cx="1417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— compiled C internals</a:t>
            </a:r>
            <a:endParaRPr lang="en-US" sz="950" dirty="0"/>
          </a:p>
        </p:txBody>
      </p:sp>
      <p:sp>
        <p:nvSpPr>
          <p:cNvPr id="30" name="Text 25"/>
          <p:cNvSpPr/>
          <p:nvPr/>
        </p:nvSpPr>
        <p:spPr>
          <a:xfrm>
            <a:off x="7040880" y="4379976"/>
            <a:ext cx="1600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 tooling</a:t>
            </a:r>
            <a:endParaRPr lang="en-US" sz="1050" dirty="0"/>
          </a:p>
        </p:txBody>
      </p:sp>
      <p:sp>
        <p:nvSpPr>
          <p:cNvPr id="31" name="Text 26"/>
          <p:cNvSpPr/>
          <p:nvPr/>
        </p:nvSpPr>
        <p:spPr>
          <a:xfrm>
            <a:off x="8686800" y="4379976"/>
            <a:ext cx="1463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7D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built-in</a:t>
            </a:r>
            <a:endParaRPr lang="en-US" sz="950" dirty="0"/>
          </a:p>
        </p:txBody>
      </p:sp>
      <p:sp>
        <p:nvSpPr>
          <p:cNvPr id="32" name="Text 27"/>
          <p:cNvSpPr/>
          <p:nvPr/>
        </p:nvSpPr>
        <p:spPr>
          <a:xfrm>
            <a:off x="10104120" y="4379976"/>
            <a:ext cx="1417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algebra, stats, RNG, more</a:t>
            </a:r>
            <a:endParaRPr lang="en-US" sz="950" dirty="0"/>
          </a:p>
        </p:txBody>
      </p:sp>
      <p:sp>
        <p:nvSpPr>
          <p:cNvPr id="33" name="Text 28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 for Numerical Data Analysis</a:t>
            </a:r>
            <a:endParaRPr lang="en-US" sz="900" dirty="0"/>
          </a:p>
        </p:txBody>
      </p:sp>
      <p:sp>
        <p:nvSpPr>
          <p:cNvPr id="34" name="Text 29"/>
          <p:cNvSpPr/>
          <p:nvPr/>
        </p:nvSpPr>
        <p:spPr>
          <a:xfrm>
            <a:off x="1161288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D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ndarray Object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5486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1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NumPy array is an instance of ndarray — a grid of values, all of the same type, indexed by a tuple of non-negative integers.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468880"/>
            <a:ext cx="5486400" cy="566928"/>
          </a:xfrm>
          <a:prstGeom prst="roundRect">
            <a:avLst>
              <a:gd name="adj" fmla="val 9677"/>
            </a:avLst>
          </a:prstGeom>
          <a:solidFill>
            <a:srgbClr val="F0F7F6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468880"/>
            <a:ext cx="1188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.shape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965960" y="2468880"/>
            <a:ext cx="3931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 of the array along each dimension, e.g. (3, 4)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3145536"/>
            <a:ext cx="5486400" cy="566928"/>
          </a:xfrm>
          <a:prstGeom prst="roundRect">
            <a:avLst>
              <a:gd name="adj" fmla="val 9677"/>
            </a:avLst>
          </a:prstGeom>
          <a:solidFill>
            <a:srgbClr val="F0F7F6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3145536"/>
            <a:ext cx="1188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.dtype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965960" y="3145536"/>
            <a:ext cx="3931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 type of every element, e.g. int64, float32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3822192"/>
            <a:ext cx="5486400" cy="566928"/>
          </a:xfrm>
          <a:prstGeom prst="roundRect">
            <a:avLst>
              <a:gd name="adj" fmla="val 9677"/>
            </a:avLst>
          </a:prstGeom>
          <a:solidFill>
            <a:srgbClr val="F0F7F6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3822192"/>
            <a:ext cx="1188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.ndim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965960" y="3822192"/>
            <a:ext cx="3931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of dimensions (axes) in the array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4498848"/>
            <a:ext cx="5486400" cy="566928"/>
          </a:xfrm>
          <a:prstGeom prst="roundRect">
            <a:avLst>
              <a:gd name="adj" fmla="val 9677"/>
            </a:avLst>
          </a:prstGeom>
          <a:solidFill>
            <a:srgbClr val="F0F7F6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4498848"/>
            <a:ext cx="1188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.size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965960" y="4498848"/>
            <a:ext cx="3931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number of elements across all dimensions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766560" y="15544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2D array — shape (3, 4)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949440" y="2148840"/>
            <a:ext cx="777240" cy="777240"/>
          </a:xfrm>
          <a:prstGeom prst="roundRect">
            <a:avLst>
              <a:gd name="adj" fmla="val 7059"/>
            </a:avLst>
          </a:prstGeom>
          <a:solidFill>
            <a:srgbClr val="02C39A">
              <a:alpha val="90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949440" y="214884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7818120" y="2148840"/>
            <a:ext cx="777240" cy="777240"/>
          </a:xfrm>
          <a:prstGeom prst="roundRect">
            <a:avLst>
              <a:gd name="adj" fmla="val 7059"/>
            </a:avLst>
          </a:prstGeom>
          <a:solidFill>
            <a:srgbClr val="02C39A">
              <a:alpha val="90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818120" y="214884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8686800" y="2148840"/>
            <a:ext cx="777240" cy="777240"/>
          </a:xfrm>
          <a:prstGeom prst="roundRect">
            <a:avLst>
              <a:gd name="adj" fmla="val 7059"/>
            </a:avLst>
          </a:prstGeom>
          <a:solidFill>
            <a:srgbClr val="02C39A">
              <a:alpha val="90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686800" y="214884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9555480" y="2148840"/>
            <a:ext cx="777240" cy="777240"/>
          </a:xfrm>
          <a:prstGeom prst="roundRect">
            <a:avLst>
              <a:gd name="adj" fmla="val 7059"/>
            </a:avLst>
          </a:prstGeom>
          <a:solidFill>
            <a:srgbClr val="02C39A">
              <a:alpha val="90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555480" y="214884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6949440" y="3017520"/>
            <a:ext cx="777240" cy="777240"/>
          </a:xfrm>
          <a:prstGeom prst="roundRect">
            <a:avLst>
              <a:gd name="adj" fmla="val 7059"/>
            </a:avLst>
          </a:prstGeom>
          <a:solidFill>
            <a:srgbClr val="00A896">
              <a:alpha val="7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949440" y="301752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7818120" y="3017520"/>
            <a:ext cx="777240" cy="777240"/>
          </a:xfrm>
          <a:prstGeom prst="roundRect">
            <a:avLst>
              <a:gd name="adj" fmla="val 7059"/>
            </a:avLst>
          </a:prstGeom>
          <a:solidFill>
            <a:srgbClr val="00A896">
              <a:alpha val="7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818120" y="301752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8686800" y="3017520"/>
            <a:ext cx="777240" cy="777240"/>
          </a:xfrm>
          <a:prstGeom prst="roundRect">
            <a:avLst>
              <a:gd name="adj" fmla="val 7059"/>
            </a:avLst>
          </a:prstGeom>
          <a:solidFill>
            <a:srgbClr val="00A896">
              <a:alpha val="7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686800" y="301752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9555480" y="3017520"/>
            <a:ext cx="777240" cy="777240"/>
          </a:xfrm>
          <a:prstGeom prst="roundRect">
            <a:avLst>
              <a:gd name="adj" fmla="val 7059"/>
            </a:avLst>
          </a:prstGeom>
          <a:solidFill>
            <a:srgbClr val="00A896">
              <a:alpha val="7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555480" y="301752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6949440" y="3886200"/>
            <a:ext cx="777240" cy="777240"/>
          </a:xfrm>
          <a:prstGeom prst="roundRect">
            <a:avLst>
              <a:gd name="adj" fmla="val 7059"/>
            </a:avLst>
          </a:prstGeom>
          <a:solidFill>
            <a:srgbClr val="00A896">
              <a:alpha val="7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949440" y="388620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7818120" y="3886200"/>
            <a:ext cx="777240" cy="777240"/>
          </a:xfrm>
          <a:prstGeom prst="roundRect">
            <a:avLst>
              <a:gd name="adj" fmla="val 7059"/>
            </a:avLst>
          </a:prstGeom>
          <a:solidFill>
            <a:srgbClr val="00A896">
              <a:alpha val="7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818120" y="388620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8686800" y="3886200"/>
            <a:ext cx="777240" cy="777240"/>
          </a:xfrm>
          <a:prstGeom prst="roundRect">
            <a:avLst>
              <a:gd name="adj" fmla="val 7059"/>
            </a:avLst>
          </a:prstGeom>
          <a:solidFill>
            <a:srgbClr val="00A896">
              <a:alpha val="7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686800" y="388620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9555480" y="3886200"/>
            <a:ext cx="777240" cy="777240"/>
          </a:xfrm>
          <a:prstGeom prst="roundRect">
            <a:avLst>
              <a:gd name="adj" fmla="val 7059"/>
            </a:avLst>
          </a:prstGeom>
          <a:solidFill>
            <a:srgbClr val="00A896">
              <a:alpha val="7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9555480" y="388620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6766560" y="48920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Creating arrays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6766560" y="5257800"/>
            <a:ext cx="4846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100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np.array([1,2,3])</a:t>
            </a:r>
            <a:endParaRPr lang="en-US" sz="11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100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np.zeros((3,4))  /  np.ones((2,2))</a:t>
            </a:r>
            <a:endParaRPr lang="en-US" sz="11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100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np.arange(0,10,2)  /  np.linspace(0,1,5)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 for Numerical Data Analysis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1161288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D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WITH ARRAYS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Indexing &amp; Slicing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48640" cy="54864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9341" y="1720901"/>
            <a:ext cx="307238" cy="30723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80160" y="1600200"/>
            <a:ext cx="4846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1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 extends Python's indexing and slicing to multiple dimensions, and adds two powerful selection tools beyond plain indices.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548640" y="2651760"/>
            <a:ext cx="5486400" cy="841248"/>
          </a:xfrm>
          <a:prstGeom prst="roundRect">
            <a:avLst>
              <a:gd name="adj" fmla="val 8696"/>
            </a:avLst>
          </a:prstGeom>
          <a:solidFill>
            <a:srgbClr val="F0F7F6"/>
          </a:solidFill>
          <a:ln/>
        </p:spPr>
      </p:sp>
      <p:sp>
        <p:nvSpPr>
          <p:cNvPr id="8" name="Text 5"/>
          <p:cNvSpPr/>
          <p:nvPr/>
        </p:nvSpPr>
        <p:spPr>
          <a:xfrm>
            <a:off x="731520" y="2724912"/>
            <a:ext cx="5120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slicing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31520" y="3017520"/>
            <a:ext cx="5120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arr[1:3, 0:2] — a view into the array, sharing memory with the original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48640" y="3611880"/>
            <a:ext cx="5486400" cy="841248"/>
          </a:xfrm>
          <a:prstGeom prst="roundRect">
            <a:avLst>
              <a:gd name="adj" fmla="val 8696"/>
            </a:avLst>
          </a:prstGeom>
          <a:solidFill>
            <a:srgbClr val="F0F7F6"/>
          </a:solidFill>
          <a:ln/>
        </p:spPr>
      </p:sp>
      <p:sp>
        <p:nvSpPr>
          <p:cNvPr id="11" name="Text 8"/>
          <p:cNvSpPr/>
          <p:nvPr/>
        </p:nvSpPr>
        <p:spPr>
          <a:xfrm>
            <a:off x="731520" y="3685032"/>
            <a:ext cx="5120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Boolean masking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731520" y="3977640"/>
            <a:ext cx="5120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arr[arr &gt; 5] — select elements that satisfy a condition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548640" y="4572000"/>
            <a:ext cx="5486400" cy="841248"/>
          </a:xfrm>
          <a:prstGeom prst="roundRect">
            <a:avLst>
              <a:gd name="adj" fmla="val 8696"/>
            </a:avLst>
          </a:prstGeom>
          <a:solidFill>
            <a:srgbClr val="F0F7F6"/>
          </a:solidFill>
          <a:ln/>
        </p:spPr>
      </p:sp>
      <p:sp>
        <p:nvSpPr>
          <p:cNvPr id="14" name="Text 11"/>
          <p:cNvSpPr/>
          <p:nvPr/>
        </p:nvSpPr>
        <p:spPr>
          <a:xfrm>
            <a:off x="731520" y="4645152"/>
            <a:ext cx="5120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Fancy indexing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731520" y="4937760"/>
            <a:ext cx="5120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arr[[0, 2, 4]] — select using a list or array of indices, returns a copy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6675120" y="155448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Slicing arr[1:3, 1:3] from a 4x4 array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6858000" y="2103120"/>
            <a:ext cx="713232" cy="713232"/>
          </a:xfrm>
          <a:prstGeom prst="roundRect">
            <a:avLst>
              <a:gd name="adj" fmla="val 7692"/>
            </a:avLst>
          </a:prstGeom>
          <a:solidFill>
            <a:srgbClr val="F0F7F6"/>
          </a:solidFill>
          <a:ln w="12700">
            <a:solidFill>
              <a:srgbClr val="D7E6E4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858000" y="2103120"/>
            <a:ext cx="71323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C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7662672" y="2103120"/>
            <a:ext cx="713232" cy="713232"/>
          </a:xfrm>
          <a:prstGeom prst="roundRect">
            <a:avLst>
              <a:gd name="adj" fmla="val 7692"/>
            </a:avLst>
          </a:prstGeom>
          <a:solidFill>
            <a:srgbClr val="F0F7F6"/>
          </a:solidFill>
          <a:ln w="12700">
            <a:solidFill>
              <a:srgbClr val="D7E6E4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662672" y="2103120"/>
            <a:ext cx="71323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C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8467344" y="2103120"/>
            <a:ext cx="713232" cy="713232"/>
          </a:xfrm>
          <a:prstGeom prst="roundRect">
            <a:avLst>
              <a:gd name="adj" fmla="val 7692"/>
            </a:avLst>
          </a:prstGeom>
          <a:solidFill>
            <a:srgbClr val="F0F7F6"/>
          </a:solidFill>
          <a:ln w="12700">
            <a:solidFill>
              <a:srgbClr val="D7E6E4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8467344" y="2103120"/>
            <a:ext cx="71323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C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9272016" y="2103120"/>
            <a:ext cx="713232" cy="713232"/>
          </a:xfrm>
          <a:prstGeom prst="roundRect">
            <a:avLst>
              <a:gd name="adj" fmla="val 7692"/>
            </a:avLst>
          </a:prstGeom>
          <a:solidFill>
            <a:srgbClr val="F0F7F6"/>
          </a:solidFill>
          <a:ln w="12700">
            <a:solidFill>
              <a:srgbClr val="D7E6E4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9272016" y="2103120"/>
            <a:ext cx="71323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C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6858000" y="2907792"/>
            <a:ext cx="713232" cy="713232"/>
          </a:xfrm>
          <a:prstGeom prst="roundRect">
            <a:avLst>
              <a:gd name="adj" fmla="val 7692"/>
            </a:avLst>
          </a:prstGeom>
          <a:solidFill>
            <a:srgbClr val="F0F7F6"/>
          </a:solidFill>
          <a:ln w="12700">
            <a:solidFill>
              <a:srgbClr val="D7E6E4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858000" y="2907792"/>
            <a:ext cx="71323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C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7" name="Shape 24"/>
          <p:cNvSpPr/>
          <p:nvPr/>
        </p:nvSpPr>
        <p:spPr>
          <a:xfrm>
            <a:off x="7662672" y="2907792"/>
            <a:ext cx="713232" cy="713232"/>
          </a:xfrm>
          <a:prstGeom prst="roundRect">
            <a:avLst>
              <a:gd name="adj" fmla="val 7692"/>
            </a:avLst>
          </a:prstGeom>
          <a:solidFill>
            <a:srgbClr val="02C39A"/>
          </a:solidFill>
          <a:ln w="31750">
            <a:solidFill>
              <a:srgbClr val="02C39A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7662672" y="2907792"/>
            <a:ext cx="71323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9" name="Shape 26"/>
          <p:cNvSpPr/>
          <p:nvPr/>
        </p:nvSpPr>
        <p:spPr>
          <a:xfrm>
            <a:off x="8467344" y="2907792"/>
            <a:ext cx="713232" cy="713232"/>
          </a:xfrm>
          <a:prstGeom prst="roundRect">
            <a:avLst>
              <a:gd name="adj" fmla="val 7692"/>
            </a:avLst>
          </a:prstGeom>
          <a:solidFill>
            <a:srgbClr val="02C39A"/>
          </a:solidFill>
          <a:ln w="31750">
            <a:solidFill>
              <a:srgbClr val="02C39A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8467344" y="2907792"/>
            <a:ext cx="71323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31" name="Shape 28"/>
          <p:cNvSpPr/>
          <p:nvPr/>
        </p:nvSpPr>
        <p:spPr>
          <a:xfrm>
            <a:off x="9272016" y="2907792"/>
            <a:ext cx="713232" cy="713232"/>
          </a:xfrm>
          <a:prstGeom prst="roundRect">
            <a:avLst>
              <a:gd name="adj" fmla="val 7692"/>
            </a:avLst>
          </a:prstGeom>
          <a:solidFill>
            <a:srgbClr val="F0F7F6"/>
          </a:solidFill>
          <a:ln w="12700">
            <a:solidFill>
              <a:srgbClr val="D7E6E4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9272016" y="2907792"/>
            <a:ext cx="71323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C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33" name="Shape 30"/>
          <p:cNvSpPr/>
          <p:nvPr/>
        </p:nvSpPr>
        <p:spPr>
          <a:xfrm>
            <a:off x="6858000" y="3712464"/>
            <a:ext cx="713232" cy="713232"/>
          </a:xfrm>
          <a:prstGeom prst="roundRect">
            <a:avLst>
              <a:gd name="adj" fmla="val 7692"/>
            </a:avLst>
          </a:prstGeom>
          <a:solidFill>
            <a:srgbClr val="F0F7F6"/>
          </a:solidFill>
          <a:ln w="12700">
            <a:solidFill>
              <a:srgbClr val="D7E6E4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6858000" y="3712464"/>
            <a:ext cx="71323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C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300" dirty="0"/>
          </a:p>
        </p:txBody>
      </p:sp>
      <p:sp>
        <p:nvSpPr>
          <p:cNvPr id="35" name="Shape 32"/>
          <p:cNvSpPr/>
          <p:nvPr/>
        </p:nvSpPr>
        <p:spPr>
          <a:xfrm>
            <a:off x="7662672" y="3712464"/>
            <a:ext cx="713232" cy="713232"/>
          </a:xfrm>
          <a:prstGeom prst="roundRect">
            <a:avLst>
              <a:gd name="adj" fmla="val 7692"/>
            </a:avLst>
          </a:prstGeom>
          <a:solidFill>
            <a:srgbClr val="02C39A"/>
          </a:solidFill>
          <a:ln w="31750">
            <a:solidFill>
              <a:srgbClr val="02C39A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7662672" y="3712464"/>
            <a:ext cx="71323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300" dirty="0"/>
          </a:p>
        </p:txBody>
      </p:sp>
      <p:sp>
        <p:nvSpPr>
          <p:cNvPr id="37" name="Shape 34"/>
          <p:cNvSpPr/>
          <p:nvPr/>
        </p:nvSpPr>
        <p:spPr>
          <a:xfrm>
            <a:off x="8467344" y="3712464"/>
            <a:ext cx="713232" cy="713232"/>
          </a:xfrm>
          <a:prstGeom prst="roundRect">
            <a:avLst>
              <a:gd name="adj" fmla="val 7692"/>
            </a:avLst>
          </a:prstGeom>
          <a:solidFill>
            <a:srgbClr val="02C39A"/>
          </a:solidFill>
          <a:ln w="31750">
            <a:solidFill>
              <a:srgbClr val="02C39A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8467344" y="3712464"/>
            <a:ext cx="71323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300" dirty="0"/>
          </a:p>
        </p:txBody>
      </p:sp>
      <p:sp>
        <p:nvSpPr>
          <p:cNvPr id="39" name="Shape 36"/>
          <p:cNvSpPr/>
          <p:nvPr/>
        </p:nvSpPr>
        <p:spPr>
          <a:xfrm>
            <a:off x="9272016" y="3712464"/>
            <a:ext cx="713232" cy="713232"/>
          </a:xfrm>
          <a:prstGeom prst="roundRect">
            <a:avLst>
              <a:gd name="adj" fmla="val 7692"/>
            </a:avLst>
          </a:prstGeom>
          <a:solidFill>
            <a:srgbClr val="F0F7F6"/>
          </a:solidFill>
          <a:ln w="12700">
            <a:solidFill>
              <a:srgbClr val="D7E6E4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9272016" y="3712464"/>
            <a:ext cx="71323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C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300" dirty="0"/>
          </a:p>
        </p:txBody>
      </p:sp>
      <p:sp>
        <p:nvSpPr>
          <p:cNvPr id="41" name="Shape 38"/>
          <p:cNvSpPr/>
          <p:nvPr/>
        </p:nvSpPr>
        <p:spPr>
          <a:xfrm>
            <a:off x="6858000" y="4517136"/>
            <a:ext cx="713232" cy="713232"/>
          </a:xfrm>
          <a:prstGeom prst="roundRect">
            <a:avLst>
              <a:gd name="adj" fmla="val 7692"/>
            </a:avLst>
          </a:prstGeom>
          <a:solidFill>
            <a:srgbClr val="F0F7F6"/>
          </a:solidFill>
          <a:ln w="12700">
            <a:solidFill>
              <a:srgbClr val="D7E6E4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6858000" y="4517136"/>
            <a:ext cx="71323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C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300" dirty="0"/>
          </a:p>
        </p:txBody>
      </p:sp>
      <p:sp>
        <p:nvSpPr>
          <p:cNvPr id="43" name="Shape 40"/>
          <p:cNvSpPr/>
          <p:nvPr/>
        </p:nvSpPr>
        <p:spPr>
          <a:xfrm>
            <a:off x="7662672" y="4517136"/>
            <a:ext cx="713232" cy="713232"/>
          </a:xfrm>
          <a:prstGeom prst="roundRect">
            <a:avLst>
              <a:gd name="adj" fmla="val 7692"/>
            </a:avLst>
          </a:prstGeom>
          <a:solidFill>
            <a:srgbClr val="F0F7F6"/>
          </a:solidFill>
          <a:ln w="12700">
            <a:solidFill>
              <a:srgbClr val="D7E6E4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7662672" y="4517136"/>
            <a:ext cx="71323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C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300" dirty="0"/>
          </a:p>
        </p:txBody>
      </p:sp>
      <p:sp>
        <p:nvSpPr>
          <p:cNvPr id="45" name="Shape 42"/>
          <p:cNvSpPr/>
          <p:nvPr/>
        </p:nvSpPr>
        <p:spPr>
          <a:xfrm>
            <a:off x="8467344" y="4517136"/>
            <a:ext cx="713232" cy="713232"/>
          </a:xfrm>
          <a:prstGeom prst="roundRect">
            <a:avLst>
              <a:gd name="adj" fmla="val 7692"/>
            </a:avLst>
          </a:prstGeom>
          <a:solidFill>
            <a:srgbClr val="F0F7F6"/>
          </a:solidFill>
          <a:ln w="12700">
            <a:solidFill>
              <a:srgbClr val="D7E6E4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8467344" y="4517136"/>
            <a:ext cx="71323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C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300" dirty="0"/>
          </a:p>
        </p:txBody>
      </p:sp>
      <p:sp>
        <p:nvSpPr>
          <p:cNvPr id="47" name="Shape 44"/>
          <p:cNvSpPr/>
          <p:nvPr/>
        </p:nvSpPr>
        <p:spPr>
          <a:xfrm>
            <a:off x="9272016" y="4517136"/>
            <a:ext cx="713232" cy="713232"/>
          </a:xfrm>
          <a:prstGeom prst="roundRect">
            <a:avLst>
              <a:gd name="adj" fmla="val 7692"/>
            </a:avLst>
          </a:prstGeom>
          <a:solidFill>
            <a:srgbClr val="F0F7F6"/>
          </a:solidFill>
          <a:ln w="12700">
            <a:solidFill>
              <a:srgbClr val="D7E6E4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9272016" y="4517136"/>
            <a:ext cx="71323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C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300" dirty="0"/>
          </a:p>
        </p:txBody>
      </p:sp>
      <p:sp>
        <p:nvSpPr>
          <p:cNvPr id="49" name="Text 46"/>
          <p:cNvSpPr/>
          <p:nvPr/>
        </p:nvSpPr>
        <p:spPr>
          <a:xfrm>
            <a:off x="6675120" y="5349240"/>
            <a:ext cx="4937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i="1" dirty="0">
                <a:solidFill>
                  <a:srgbClr val="5C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Slicing returns a view — modifying it changes the original array too.</a:t>
            </a:r>
            <a:endParaRPr lang="en-US" sz="1100" dirty="0"/>
          </a:p>
        </p:txBody>
      </p:sp>
      <p:sp>
        <p:nvSpPr>
          <p:cNvPr id="50" name="Text 47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 for Numerical Data Analysis</a:t>
            </a:r>
            <a:endParaRPr lang="en-US" sz="900" dirty="0"/>
          </a:p>
        </p:txBody>
      </p:sp>
      <p:sp>
        <p:nvSpPr>
          <p:cNvPr id="51" name="Text 48"/>
          <p:cNvSpPr/>
          <p:nvPr/>
        </p:nvSpPr>
        <p:spPr>
          <a:xfrm>
            <a:off x="1161288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D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Vectorized Operations &amp; Broadcasting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Arithmetic on arrays applies element-by-element, automatically — no explicit loop required.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5486400" cy="1051560"/>
          </a:xfrm>
          <a:prstGeom prst="roundRect">
            <a:avLst>
              <a:gd name="adj" fmla="val 6957"/>
            </a:avLst>
          </a:prstGeom>
          <a:solidFill>
            <a:srgbClr val="073B3A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148840"/>
            <a:ext cx="5029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BFE3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= np.array([1, 2, 3])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BFE3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 = np.array([10, 20, 30])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b="1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+ b   -&gt;  array([11, 22, 33])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48640" y="33375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Broadcasting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48640" y="3657600"/>
            <a:ext cx="5486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5C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shapes differ, NumPy "stretches" the smaller array across the larger one—without copying data—so operations still align element-wise.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48640" y="4434840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of thumb: shapes are compatible when, compared from the right, dimensions are equal or one of them is 1.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6675120" y="155448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Broadcasting a (3,3) matrix + (3,) vector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766560" y="2057400"/>
            <a:ext cx="566928" cy="566928"/>
          </a:xfrm>
          <a:prstGeom prst="roundRect">
            <a:avLst>
              <a:gd name="adj" fmla="val 8065"/>
            </a:avLst>
          </a:prstGeom>
          <a:solidFill>
            <a:srgbClr val="F0F7F6"/>
          </a:solidFill>
          <a:ln w="12700">
            <a:solidFill>
              <a:srgbClr val="D7E6E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766560" y="20574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406640" y="2057400"/>
            <a:ext cx="566928" cy="566928"/>
          </a:xfrm>
          <a:prstGeom prst="roundRect">
            <a:avLst>
              <a:gd name="adj" fmla="val 8065"/>
            </a:avLst>
          </a:prstGeom>
          <a:solidFill>
            <a:srgbClr val="F0F7F6"/>
          </a:solidFill>
          <a:ln w="12700">
            <a:solidFill>
              <a:srgbClr val="D7E6E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06640" y="20574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046720" y="2057400"/>
            <a:ext cx="566928" cy="566928"/>
          </a:xfrm>
          <a:prstGeom prst="roundRect">
            <a:avLst>
              <a:gd name="adj" fmla="val 8065"/>
            </a:avLst>
          </a:prstGeom>
          <a:solidFill>
            <a:srgbClr val="F0F7F6"/>
          </a:solidFill>
          <a:ln w="12700">
            <a:solidFill>
              <a:srgbClr val="D7E6E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046720" y="20574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766560" y="2697480"/>
            <a:ext cx="566928" cy="566928"/>
          </a:xfrm>
          <a:prstGeom prst="roundRect">
            <a:avLst>
              <a:gd name="adj" fmla="val 8065"/>
            </a:avLst>
          </a:prstGeom>
          <a:solidFill>
            <a:srgbClr val="F0F7F6"/>
          </a:solidFill>
          <a:ln w="12700">
            <a:solidFill>
              <a:srgbClr val="D7E6E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766560" y="269748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406640" y="2697480"/>
            <a:ext cx="566928" cy="566928"/>
          </a:xfrm>
          <a:prstGeom prst="roundRect">
            <a:avLst>
              <a:gd name="adj" fmla="val 8065"/>
            </a:avLst>
          </a:prstGeom>
          <a:solidFill>
            <a:srgbClr val="F0F7F6"/>
          </a:solidFill>
          <a:ln w="12700">
            <a:solidFill>
              <a:srgbClr val="D7E6E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406640" y="269748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8046720" y="2697480"/>
            <a:ext cx="566928" cy="566928"/>
          </a:xfrm>
          <a:prstGeom prst="roundRect">
            <a:avLst>
              <a:gd name="adj" fmla="val 8065"/>
            </a:avLst>
          </a:prstGeom>
          <a:solidFill>
            <a:srgbClr val="F0F7F6"/>
          </a:solidFill>
          <a:ln w="12700">
            <a:solidFill>
              <a:srgbClr val="D7E6E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046720" y="269748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766560" y="3337560"/>
            <a:ext cx="566928" cy="566928"/>
          </a:xfrm>
          <a:prstGeom prst="roundRect">
            <a:avLst>
              <a:gd name="adj" fmla="val 8065"/>
            </a:avLst>
          </a:prstGeom>
          <a:solidFill>
            <a:srgbClr val="F0F7F6"/>
          </a:solidFill>
          <a:ln w="12700">
            <a:solidFill>
              <a:srgbClr val="D7E6E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766560" y="333756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7406640" y="3337560"/>
            <a:ext cx="566928" cy="566928"/>
          </a:xfrm>
          <a:prstGeom prst="roundRect">
            <a:avLst>
              <a:gd name="adj" fmla="val 8065"/>
            </a:avLst>
          </a:prstGeom>
          <a:solidFill>
            <a:srgbClr val="F0F7F6"/>
          </a:solidFill>
          <a:ln w="12700">
            <a:solidFill>
              <a:srgbClr val="D7E6E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406640" y="333756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8046720" y="3337560"/>
            <a:ext cx="566928" cy="566928"/>
          </a:xfrm>
          <a:prstGeom prst="roundRect">
            <a:avLst>
              <a:gd name="adj" fmla="val 8065"/>
            </a:avLst>
          </a:prstGeom>
          <a:solidFill>
            <a:srgbClr val="F0F7F6"/>
          </a:solidFill>
          <a:ln w="12700">
            <a:solidFill>
              <a:srgbClr val="D7E6E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046720" y="333756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8732520" y="2697480"/>
            <a:ext cx="320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2000" dirty="0"/>
          </a:p>
        </p:txBody>
      </p:sp>
      <p:sp>
        <p:nvSpPr>
          <p:cNvPr id="30" name="Shape 28"/>
          <p:cNvSpPr/>
          <p:nvPr/>
        </p:nvSpPr>
        <p:spPr>
          <a:xfrm>
            <a:off x="9098280" y="2697480"/>
            <a:ext cx="566928" cy="566928"/>
          </a:xfrm>
          <a:prstGeom prst="roundRect">
            <a:avLst>
              <a:gd name="adj" fmla="val 8065"/>
            </a:avLst>
          </a:prstGeom>
          <a:solidFill>
            <a:srgbClr val="00A896">
              <a:alpha val="85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9098280" y="269748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9738360" y="2697480"/>
            <a:ext cx="566928" cy="566928"/>
          </a:xfrm>
          <a:prstGeom prst="roundRect">
            <a:avLst>
              <a:gd name="adj" fmla="val 8065"/>
            </a:avLst>
          </a:prstGeom>
          <a:solidFill>
            <a:srgbClr val="00A896">
              <a:alpha val="85000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9738360" y="269748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10378440" y="2697480"/>
            <a:ext cx="566928" cy="566928"/>
          </a:xfrm>
          <a:prstGeom prst="roundRect">
            <a:avLst>
              <a:gd name="adj" fmla="val 8065"/>
            </a:avLst>
          </a:prstGeom>
          <a:solidFill>
            <a:srgbClr val="00A896">
              <a:alpha val="85000"/>
            </a:srgbClr>
          </a:solidFill>
          <a:ln/>
        </p:spPr>
      </p:sp>
      <p:sp>
        <p:nvSpPr>
          <p:cNvPr id="35" name="Text 33"/>
          <p:cNvSpPr/>
          <p:nvPr/>
        </p:nvSpPr>
        <p:spPr>
          <a:xfrm>
            <a:off x="10378440" y="269748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675120" y="4160520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i="1" dirty="0">
                <a:solidFill>
                  <a:srgbClr val="5C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vector is applied to every row of the matrix automatically.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6675120" y="484632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Universal functions (ufuncs)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6675120" y="5193792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np.sqrt()   np.exp()   np.log()   np.abs()   np.sin()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6675120" y="557784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Fast, element-wise functions applied across an entire array at once.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 for Numerical Data Analysis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1161288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D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TOOLKIT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Statistical &amp; Aggregate Functions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48640" cy="54864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9341" y="1675181"/>
            <a:ext cx="307238" cy="30723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80160" y="1554480"/>
            <a:ext cx="10241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1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 reduces an entire array—or one axis of it—down to a single descriptive number, the basis of most exploratory data analysis.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48640" y="2514600"/>
            <a:ext cx="2743200" cy="1417320"/>
          </a:xfrm>
          <a:prstGeom prst="roundRect">
            <a:avLst>
              <a:gd name="adj" fmla="val 5161"/>
            </a:avLst>
          </a:prstGeom>
          <a:solidFill>
            <a:srgbClr val="F0F7F6"/>
          </a:solidFill>
          <a:ln/>
        </p:spPr>
      </p:sp>
      <p:sp>
        <p:nvSpPr>
          <p:cNvPr id="8" name="Text 5"/>
          <p:cNvSpPr/>
          <p:nvPr/>
        </p:nvSpPr>
        <p:spPr>
          <a:xfrm>
            <a:off x="731520" y="269748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mean() / median()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31520" y="320040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C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tendency of the data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429000" y="2514600"/>
            <a:ext cx="2743200" cy="1417320"/>
          </a:xfrm>
          <a:prstGeom prst="roundRect">
            <a:avLst>
              <a:gd name="adj" fmla="val 5161"/>
            </a:avLst>
          </a:prstGeom>
          <a:solidFill>
            <a:srgbClr val="F0F7F6"/>
          </a:solidFill>
          <a:ln/>
        </p:spPr>
      </p:sp>
      <p:sp>
        <p:nvSpPr>
          <p:cNvPr id="11" name="Text 8"/>
          <p:cNvSpPr/>
          <p:nvPr/>
        </p:nvSpPr>
        <p:spPr>
          <a:xfrm>
            <a:off x="3611880" y="269748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std() / var()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3611880" y="320040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C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Spread — standard deviation and variance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6309360" y="2514600"/>
            <a:ext cx="2743200" cy="1417320"/>
          </a:xfrm>
          <a:prstGeom prst="roundRect">
            <a:avLst>
              <a:gd name="adj" fmla="val 5161"/>
            </a:avLst>
          </a:prstGeom>
          <a:solidFill>
            <a:srgbClr val="F0F7F6"/>
          </a:solidFill>
          <a:ln/>
        </p:spPr>
      </p:sp>
      <p:sp>
        <p:nvSpPr>
          <p:cNvPr id="14" name="Text 11"/>
          <p:cNvSpPr/>
          <p:nvPr/>
        </p:nvSpPr>
        <p:spPr>
          <a:xfrm>
            <a:off x="6492240" y="269748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sum() / cumsum()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6492240" y="320040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C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Totals and running totals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9189720" y="2514600"/>
            <a:ext cx="2743200" cy="1417320"/>
          </a:xfrm>
          <a:prstGeom prst="roundRect">
            <a:avLst>
              <a:gd name="adj" fmla="val 5161"/>
            </a:avLst>
          </a:prstGeom>
          <a:solidFill>
            <a:srgbClr val="F0F7F6"/>
          </a:solidFill>
          <a:ln/>
        </p:spPr>
      </p:sp>
      <p:sp>
        <p:nvSpPr>
          <p:cNvPr id="17" name="Text 14"/>
          <p:cNvSpPr/>
          <p:nvPr/>
        </p:nvSpPr>
        <p:spPr>
          <a:xfrm>
            <a:off x="9372600" y="269748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min() / max() / argmax()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9372600" y="320040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C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Extremes and their positions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548640" y="4251960"/>
            <a:ext cx="11064240" cy="1600200"/>
          </a:xfrm>
          <a:prstGeom prst="roundRect">
            <a:avLst>
              <a:gd name="adj" fmla="val 5714"/>
            </a:avLst>
          </a:prstGeom>
          <a:solidFill>
            <a:srgbClr val="073B3A"/>
          </a:solidFill>
          <a:ln/>
        </p:spPr>
      </p:sp>
      <p:sp>
        <p:nvSpPr>
          <p:cNvPr id="20" name="Text 17"/>
          <p:cNvSpPr/>
          <p:nvPr/>
        </p:nvSpPr>
        <p:spPr>
          <a:xfrm>
            <a:off x="822960" y="44348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Axis matters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822960" y="4800600"/>
            <a:ext cx="10424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data.mean(axis=0)</a:t>
            </a: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50" i="1" dirty="0">
                <a:solidFill>
                  <a:srgbClr val="BFE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averages each column (down the rows)</a:t>
            </a: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data.mean(axis=1)</a:t>
            </a: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50" i="1" dirty="0">
                <a:solidFill>
                  <a:srgbClr val="BFE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averages each row (across the columns)</a:t>
            </a:r>
            <a:endParaRPr lang="en-US" sz="1250" dirty="0"/>
          </a:p>
        </p:txBody>
      </p:sp>
      <p:sp>
        <p:nvSpPr>
          <p:cNvPr id="22" name="Text 19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 for Numerical Data Analysis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1161288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D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WITH ARRAYS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Reshaping &amp; Manipulating Arrays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48640" cy="54864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9341" y="1675181"/>
            <a:ext cx="307238" cy="30723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80160" y="1554480"/>
            <a:ext cx="4846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1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data can be viewed in different shapes and orientations without duplicating it in memory.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640080" y="2478024"/>
            <a:ext cx="128016" cy="12801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8" name="Text 5"/>
          <p:cNvSpPr/>
          <p:nvPr/>
        </p:nvSpPr>
        <p:spPr>
          <a:xfrm>
            <a:off x="914400" y="2350008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reshape()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3108960" y="2350008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80" dirty="0">
                <a:solidFill>
                  <a:srgbClr val="5C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dimensions while keeping the same data and element order</a:t>
            </a:r>
            <a:endParaRPr lang="en-US" sz="1080" dirty="0"/>
          </a:p>
        </p:txBody>
      </p:sp>
      <p:sp>
        <p:nvSpPr>
          <p:cNvPr id="10" name="Shape 7"/>
          <p:cNvSpPr/>
          <p:nvPr/>
        </p:nvSpPr>
        <p:spPr>
          <a:xfrm>
            <a:off x="640080" y="3044952"/>
            <a:ext cx="128016" cy="12801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1" name="Text 8"/>
          <p:cNvSpPr/>
          <p:nvPr/>
        </p:nvSpPr>
        <p:spPr>
          <a:xfrm>
            <a:off x="914400" y="2916936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flatten() / ravel()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3108960" y="2916936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80" dirty="0">
                <a:solidFill>
                  <a:srgbClr val="5C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Collapse any array down to one dimension</a:t>
            </a:r>
            <a:endParaRPr lang="en-US" sz="1080" dirty="0"/>
          </a:p>
        </p:txBody>
      </p:sp>
      <p:sp>
        <p:nvSpPr>
          <p:cNvPr id="13" name="Shape 10"/>
          <p:cNvSpPr/>
          <p:nvPr/>
        </p:nvSpPr>
        <p:spPr>
          <a:xfrm>
            <a:off x="640080" y="3611880"/>
            <a:ext cx="128016" cy="12801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4" name="Text 11"/>
          <p:cNvSpPr/>
          <p:nvPr/>
        </p:nvSpPr>
        <p:spPr>
          <a:xfrm>
            <a:off x="914400" y="3483864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transpose() / .T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3108960" y="3483864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80" dirty="0">
                <a:solidFill>
                  <a:srgbClr val="5C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Flip rows and columns (or reorder axes)</a:t>
            </a:r>
            <a:endParaRPr lang="en-US" sz="1080" dirty="0"/>
          </a:p>
        </p:txBody>
      </p:sp>
      <p:sp>
        <p:nvSpPr>
          <p:cNvPr id="16" name="Shape 13"/>
          <p:cNvSpPr/>
          <p:nvPr/>
        </p:nvSpPr>
        <p:spPr>
          <a:xfrm>
            <a:off x="640080" y="4178808"/>
            <a:ext cx="128016" cy="12801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7" name="Text 14"/>
          <p:cNvSpPr/>
          <p:nvPr/>
        </p:nvSpPr>
        <p:spPr>
          <a:xfrm>
            <a:off x="914400" y="4050792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concatenate() / stack()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3108960" y="4050792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80" dirty="0">
                <a:solidFill>
                  <a:srgbClr val="5C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two or more arrays together</a:t>
            </a:r>
            <a:endParaRPr lang="en-US" sz="1080" dirty="0"/>
          </a:p>
        </p:txBody>
      </p:sp>
      <p:sp>
        <p:nvSpPr>
          <p:cNvPr id="19" name="Shape 16"/>
          <p:cNvSpPr/>
          <p:nvPr/>
        </p:nvSpPr>
        <p:spPr>
          <a:xfrm>
            <a:off x="640080" y="4745736"/>
            <a:ext cx="128016" cy="12801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0" name="Text 17"/>
          <p:cNvSpPr/>
          <p:nvPr/>
        </p:nvSpPr>
        <p:spPr>
          <a:xfrm>
            <a:off x="914400" y="46177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sort() / argsort()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3108960" y="461772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80" dirty="0">
                <a:solidFill>
                  <a:srgbClr val="5C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elements, or return the sorting indices</a:t>
            </a:r>
            <a:endParaRPr lang="en-US" sz="1080" dirty="0"/>
          </a:p>
        </p:txBody>
      </p:sp>
      <p:sp>
        <p:nvSpPr>
          <p:cNvPr id="22" name="Text 19"/>
          <p:cNvSpPr/>
          <p:nvPr/>
        </p:nvSpPr>
        <p:spPr>
          <a:xfrm>
            <a:off x="6675120" y="155448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Reshaping a 12-element array into (3, 4)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6766560" y="2011680"/>
            <a:ext cx="238110" cy="566928"/>
          </a:xfrm>
          <a:prstGeom prst="roundRect">
            <a:avLst>
              <a:gd name="adj" fmla="val 15361"/>
            </a:avLst>
          </a:prstGeom>
          <a:solidFill>
            <a:srgbClr val="00A896">
              <a:alpha val="80000"/>
            </a:srgbClr>
          </a:solidFill>
          <a:ln/>
        </p:spPr>
      </p:sp>
      <p:sp>
        <p:nvSpPr>
          <p:cNvPr id="24" name="Text 21"/>
          <p:cNvSpPr/>
          <p:nvPr/>
        </p:nvSpPr>
        <p:spPr>
          <a:xfrm>
            <a:off x="6766560" y="2011680"/>
            <a:ext cx="23811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800" dirty="0"/>
          </a:p>
        </p:txBody>
      </p:sp>
      <p:sp>
        <p:nvSpPr>
          <p:cNvPr id="25" name="Shape 22"/>
          <p:cNvSpPr/>
          <p:nvPr/>
        </p:nvSpPr>
        <p:spPr>
          <a:xfrm>
            <a:off x="7027713" y="2011680"/>
            <a:ext cx="238110" cy="566928"/>
          </a:xfrm>
          <a:prstGeom prst="roundRect">
            <a:avLst>
              <a:gd name="adj" fmla="val 15361"/>
            </a:avLst>
          </a:prstGeom>
          <a:solidFill>
            <a:srgbClr val="00A896">
              <a:alpha val="80000"/>
            </a:srgbClr>
          </a:solidFill>
          <a:ln/>
        </p:spPr>
      </p:sp>
      <p:sp>
        <p:nvSpPr>
          <p:cNvPr id="26" name="Text 23"/>
          <p:cNvSpPr/>
          <p:nvPr/>
        </p:nvSpPr>
        <p:spPr>
          <a:xfrm>
            <a:off x="7027713" y="2011680"/>
            <a:ext cx="23811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00" dirty="0"/>
          </a:p>
        </p:txBody>
      </p:sp>
      <p:sp>
        <p:nvSpPr>
          <p:cNvPr id="27" name="Shape 24"/>
          <p:cNvSpPr/>
          <p:nvPr/>
        </p:nvSpPr>
        <p:spPr>
          <a:xfrm>
            <a:off x="7288865" y="2011680"/>
            <a:ext cx="238110" cy="566928"/>
          </a:xfrm>
          <a:prstGeom prst="roundRect">
            <a:avLst>
              <a:gd name="adj" fmla="val 15361"/>
            </a:avLst>
          </a:prstGeom>
          <a:solidFill>
            <a:srgbClr val="00A896">
              <a:alpha val="80000"/>
            </a:srgbClr>
          </a:solidFill>
          <a:ln/>
        </p:spPr>
      </p:sp>
      <p:sp>
        <p:nvSpPr>
          <p:cNvPr id="28" name="Text 25"/>
          <p:cNvSpPr/>
          <p:nvPr/>
        </p:nvSpPr>
        <p:spPr>
          <a:xfrm>
            <a:off x="7288865" y="2011680"/>
            <a:ext cx="23811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  <p:sp>
        <p:nvSpPr>
          <p:cNvPr id="29" name="Shape 26"/>
          <p:cNvSpPr/>
          <p:nvPr/>
        </p:nvSpPr>
        <p:spPr>
          <a:xfrm>
            <a:off x="7550018" y="2011680"/>
            <a:ext cx="238110" cy="566928"/>
          </a:xfrm>
          <a:prstGeom prst="roundRect">
            <a:avLst>
              <a:gd name="adj" fmla="val 15361"/>
            </a:avLst>
          </a:prstGeom>
          <a:solidFill>
            <a:srgbClr val="00A896">
              <a:alpha val="80000"/>
            </a:srgbClr>
          </a:solidFill>
          <a:ln/>
        </p:spPr>
      </p:sp>
      <p:sp>
        <p:nvSpPr>
          <p:cNvPr id="30" name="Text 27"/>
          <p:cNvSpPr/>
          <p:nvPr/>
        </p:nvSpPr>
        <p:spPr>
          <a:xfrm>
            <a:off x="7550018" y="2011680"/>
            <a:ext cx="23811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  <p:sp>
        <p:nvSpPr>
          <p:cNvPr id="31" name="Shape 28"/>
          <p:cNvSpPr/>
          <p:nvPr/>
        </p:nvSpPr>
        <p:spPr>
          <a:xfrm>
            <a:off x="7811171" y="2011680"/>
            <a:ext cx="238110" cy="566928"/>
          </a:xfrm>
          <a:prstGeom prst="roundRect">
            <a:avLst>
              <a:gd name="adj" fmla="val 15361"/>
            </a:avLst>
          </a:prstGeom>
          <a:solidFill>
            <a:srgbClr val="00A896">
              <a:alpha val="80000"/>
            </a:srgbClr>
          </a:solidFill>
          <a:ln/>
        </p:spPr>
      </p:sp>
      <p:sp>
        <p:nvSpPr>
          <p:cNvPr id="32" name="Text 29"/>
          <p:cNvSpPr/>
          <p:nvPr/>
        </p:nvSpPr>
        <p:spPr>
          <a:xfrm>
            <a:off x="7811171" y="2011680"/>
            <a:ext cx="23811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00" dirty="0"/>
          </a:p>
        </p:txBody>
      </p:sp>
      <p:sp>
        <p:nvSpPr>
          <p:cNvPr id="33" name="Shape 30"/>
          <p:cNvSpPr/>
          <p:nvPr/>
        </p:nvSpPr>
        <p:spPr>
          <a:xfrm>
            <a:off x="8072323" y="2011680"/>
            <a:ext cx="238110" cy="566928"/>
          </a:xfrm>
          <a:prstGeom prst="roundRect">
            <a:avLst>
              <a:gd name="adj" fmla="val 15361"/>
            </a:avLst>
          </a:prstGeom>
          <a:solidFill>
            <a:srgbClr val="00A896">
              <a:alpha val="80000"/>
            </a:srgbClr>
          </a:solidFill>
          <a:ln/>
        </p:spPr>
      </p:sp>
      <p:sp>
        <p:nvSpPr>
          <p:cNvPr id="34" name="Text 31"/>
          <p:cNvSpPr/>
          <p:nvPr/>
        </p:nvSpPr>
        <p:spPr>
          <a:xfrm>
            <a:off x="8072323" y="2011680"/>
            <a:ext cx="23811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00" dirty="0"/>
          </a:p>
        </p:txBody>
      </p:sp>
      <p:sp>
        <p:nvSpPr>
          <p:cNvPr id="35" name="Shape 32"/>
          <p:cNvSpPr/>
          <p:nvPr/>
        </p:nvSpPr>
        <p:spPr>
          <a:xfrm>
            <a:off x="8333476" y="2011680"/>
            <a:ext cx="238110" cy="566928"/>
          </a:xfrm>
          <a:prstGeom prst="roundRect">
            <a:avLst>
              <a:gd name="adj" fmla="val 15361"/>
            </a:avLst>
          </a:prstGeom>
          <a:solidFill>
            <a:srgbClr val="00A896">
              <a:alpha val="80000"/>
            </a:srgbClr>
          </a:solidFill>
          <a:ln/>
        </p:spPr>
      </p:sp>
      <p:sp>
        <p:nvSpPr>
          <p:cNvPr id="36" name="Text 33"/>
          <p:cNvSpPr/>
          <p:nvPr/>
        </p:nvSpPr>
        <p:spPr>
          <a:xfrm>
            <a:off x="8333476" y="2011680"/>
            <a:ext cx="23811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00" dirty="0"/>
          </a:p>
        </p:txBody>
      </p:sp>
      <p:sp>
        <p:nvSpPr>
          <p:cNvPr id="37" name="Shape 34"/>
          <p:cNvSpPr/>
          <p:nvPr/>
        </p:nvSpPr>
        <p:spPr>
          <a:xfrm>
            <a:off x="8594628" y="2011680"/>
            <a:ext cx="238110" cy="566928"/>
          </a:xfrm>
          <a:prstGeom prst="roundRect">
            <a:avLst>
              <a:gd name="adj" fmla="val 15361"/>
            </a:avLst>
          </a:prstGeom>
          <a:solidFill>
            <a:srgbClr val="00A896">
              <a:alpha val="80000"/>
            </a:srgbClr>
          </a:solidFill>
          <a:ln/>
        </p:spPr>
      </p:sp>
      <p:sp>
        <p:nvSpPr>
          <p:cNvPr id="38" name="Text 35"/>
          <p:cNvSpPr/>
          <p:nvPr/>
        </p:nvSpPr>
        <p:spPr>
          <a:xfrm>
            <a:off x="8594628" y="2011680"/>
            <a:ext cx="23811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00" dirty="0"/>
          </a:p>
        </p:txBody>
      </p:sp>
      <p:sp>
        <p:nvSpPr>
          <p:cNvPr id="39" name="Shape 36"/>
          <p:cNvSpPr/>
          <p:nvPr/>
        </p:nvSpPr>
        <p:spPr>
          <a:xfrm>
            <a:off x="8855781" y="2011680"/>
            <a:ext cx="238110" cy="566928"/>
          </a:xfrm>
          <a:prstGeom prst="roundRect">
            <a:avLst>
              <a:gd name="adj" fmla="val 15361"/>
            </a:avLst>
          </a:prstGeom>
          <a:solidFill>
            <a:srgbClr val="00A896">
              <a:alpha val="80000"/>
            </a:srgbClr>
          </a:solidFill>
          <a:ln/>
        </p:spPr>
      </p:sp>
      <p:sp>
        <p:nvSpPr>
          <p:cNvPr id="40" name="Text 37"/>
          <p:cNvSpPr/>
          <p:nvPr/>
        </p:nvSpPr>
        <p:spPr>
          <a:xfrm>
            <a:off x="8855781" y="2011680"/>
            <a:ext cx="23811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00" dirty="0"/>
          </a:p>
        </p:txBody>
      </p:sp>
      <p:sp>
        <p:nvSpPr>
          <p:cNvPr id="41" name="Shape 38"/>
          <p:cNvSpPr/>
          <p:nvPr/>
        </p:nvSpPr>
        <p:spPr>
          <a:xfrm>
            <a:off x="9116934" y="2011680"/>
            <a:ext cx="238110" cy="566928"/>
          </a:xfrm>
          <a:prstGeom prst="roundRect">
            <a:avLst>
              <a:gd name="adj" fmla="val 15361"/>
            </a:avLst>
          </a:prstGeom>
          <a:solidFill>
            <a:srgbClr val="00A896">
              <a:alpha val="80000"/>
            </a:srgbClr>
          </a:solidFill>
          <a:ln/>
        </p:spPr>
      </p:sp>
      <p:sp>
        <p:nvSpPr>
          <p:cNvPr id="42" name="Text 39"/>
          <p:cNvSpPr/>
          <p:nvPr/>
        </p:nvSpPr>
        <p:spPr>
          <a:xfrm>
            <a:off x="9116934" y="2011680"/>
            <a:ext cx="23811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800" dirty="0"/>
          </a:p>
        </p:txBody>
      </p:sp>
      <p:sp>
        <p:nvSpPr>
          <p:cNvPr id="43" name="Shape 40"/>
          <p:cNvSpPr/>
          <p:nvPr/>
        </p:nvSpPr>
        <p:spPr>
          <a:xfrm>
            <a:off x="9378086" y="2011680"/>
            <a:ext cx="238110" cy="566928"/>
          </a:xfrm>
          <a:prstGeom prst="roundRect">
            <a:avLst>
              <a:gd name="adj" fmla="val 15361"/>
            </a:avLst>
          </a:prstGeom>
          <a:solidFill>
            <a:srgbClr val="00A896">
              <a:alpha val="80000"/>
            </a:srgbClr>
          </a:solidFill>
          <a:ln/>
        </p:spPr>
      </p:sp>
      <p:sp>
        <p:nvSpPr>
          <p:cNvPr id="44" name="Text 41"/>
          <p:cNvSpPr/>
          <p:nvPr/>
        </p:nvSpPr>
        <p:spPr>
          <a:xfrm>
            <a:off x="9378086" y="2011680"/>
            <a:ext cx="23811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00" dirty="0"/>
          </a:p>
        </p:txBody>
      </p:sp>
      <p:sp>
        <p:nvSpPr>
          <p:cNvPr id="45" name="Shape 42"/>
          <p:cNvSpPr/>
          <p:nvPr/>
        </p:nvSpPr>
        <p:spPr>
          <a:xfrm>
            <a:off x="9639239" y="2011680"/>
            <a:ext cx="238110" cy="566928"/>
          </a:xfrm>
          <a:prstGeom prst="roundRect">
            <a:avLst>
              <a:gd name="adj" fmla="val 15361"/>
            </a:avLst>
          </a:prstGeom>
          <a:solidFill>
            <a:srgbClr val="00A896">
              <a:alpha val="80000"/>
            </a:srgbClr>
          </a:solidFill>
          <a:ln/>
        </p:spPr>
      </p:sp>
      <p:sp>
        <p:nvSpPr>
          <p:cNvPr id="46" name="Text 43"/>
          <p:cNvSpPr/>
          <p:nvPr/>
        </p:nvSpPr>
        <p:spPr>
          <a:xfrm>
            <a:off x="9639239" y="2011680"/>
            <a:ext cx="23811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800" dirty="0"/>
          </a:p>
        </p:txBody>
      </p:sp>
      <p:sp>
        <p:nvSpPr>
          <p:cNvPr id="47" name="Shape 44"/>
          <p:cNvSpPr/>
          <p:nvPr/>
        </p:nvSpPr>
        <p:spPr>
          <a:xfrm>
            <a:off x="9052560" y="2715768"/>
            <a:ext cx="0" cy="320040"/>
          </a:xfrm>
          <a:prstGeom prst="line">
            <a:avLst/>
          </a:prstGeom>
          <a:noFill/>
          <a:ln w="19050">
            <a:solidFill>
              <a:srgbClr val="5C7A78"/>
            </a:solidFill>
            <a:prstDash val="solid"/>
            <a:tailEnd type="triangle"/>
          </a:ln>
        </p:spPr>
      </p:sp>
      <p:sp>
        <p:nvSpPr>
          <p:cNvPr id="48" name="Shape 45"/>
          <p:cNvSpPr/>
          <p:nvPr/>
        </p:nvSpPr>
        <p:spPr>
          <a:xfrm>
            <a:off x="6766560" y="3127248"/>
            <a:ext cx="640080" cy="640080"/>
          </a:xfrm>
          <a:prstGeom prst="roundRect">
            <a:avLst>
              <a:gd name="adj" fmla="val 7143"/>
            </a:avLst>
          </a:prstGeom>
          <a:solidFill>
            <a:srgbClr val="02C39A">
              <a:alpha val="90000"/>
            </a:srgbClr>
          </a:solidFill>
          <a:ln/>
        </p:spPr>
      </p:sp>
      <p:sp>
        <p:nvSpPr>
          <p:cNvPr id="49" name="Text 46"/>
          <p:cNvSpPr/>
          <p:nvPr/>
        </p:nvSpPr>
        <p:spPr>
          <a:xfrm>
            <a:off x="6766560" y="3127248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200" dirty="0"/>
          </a:p>
        </p:txBody>
      </p:sp>
      <p:sp>
        <p:nvSpPr>
          <p:cNvPr id="50" name="Shape 47"/>
          <p:cNvSpPr/>
          <p:nvPr/>
        </p:nvSpPr>
        <p:spPr>
          <a:xfrm>
            <a:off x="7479792" y="3127248"/>
            <a:ext cx="640080" cy="640080"/>
          </a:xfrm>
          <a:prstGeom prst="roundRect">
            <a:avLst>
              <a:gd name="adj" fmla="val 7143"/>
            </a:avLst>
          </a:prstGeom>
          <a:solidFill>
            <a:srgbClr val="02C39A">
              <a:alpha val="90000"/>
            </a:srgbClr>
          </a:solidFill>
          <a:ln/>
        </p:spPr>
      </p:sp>
      <p:sp>
        <p:nvSpPr>
          <p:cNvPr id="51" name="Text 48"/>
          <p:cNvSpPr/>
          <p:nvPr/>
        </p:nvSpPr>
        <p:spPr>
          <a:xfrm>
            <a:off x="7479792" y="3127248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52" name="Shape 49"/>
          <p:cNvSpPr/>
          <p:nvPr/>
        </p:nvSpPr>
        <p:spPr>
          <a:xfrm>
            <a:off x="8193024" y="3127248"/>
            <a:ext cx="640080" cy="640080"/>
          </a:xfrm>
          <a:prstGeom prst="roundRect">
            <a:avLst>
              <a:gd name="adj" fmla="val 7143"/>
            </a:avLst>
          </a:prstGeom>
          <a:solidFill>
            <a:srgbClr val="02C39A">
              <a:alpha val="90000"/>
            </a:srgbClr>
          </a:solidFill>
          <a:ln/>
        </p:spPr>
      </p:sp>
      <p:sp>
        <p:nvSpPr>
          <p:cNvPr id="53" name="Text 50"/>
          <p:cNvSpPr/>
          <p:nvPr/>
        </p:nvSpPr>
        <p:spPr>
          <a:xfrm>
            <a:off x="8193024" y="3127248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54" name="Shape 51"/>
          <p:cNvSpPr/>
          <p:nvPr/>
        </p:nvSpPr>
        <p:spPr>
          <a:xfrm>
            <a:off x="8906256" y="3127248"/>
            <a:ext cx="640080" cy="640080"/>
          </a:xfrm>
          <a:prstGeom prst="roundRect">
            <a:avLst>
              <a:gd name="adj" fmla="val 7143"/>
            </a:avLst>
          </a:prstGeom>
          <a:solidFill>
            <a:srgbClr val="02C39A">
              <a:alpha val="90000"/>
            </a:srgbClr>
          </a:solidFill>
          <a:ln/>
        </p:spPr>
      </p:sp>
      <p:sp>
        <p:nvSpPr>
          <p:cNvPr id="55" name="Text 52"/>
          <p:cNvSpPr/>
          <p:nvPr/>
        </p:nvSpPr>
        <p:spPr>
          <a:xfrm>
            <a:off x="8906256" y="3127248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56" name="Shape 53"/>
          <p:cNvSpPr/>
          <p:nvPr/>
        </p:nvSpPr>
        <p:spPr>
          <a:xfrm>
            <a:off x="6766560" y="3840480"/>
            <a:ext cx="640080" cy="640080"/>
          </a:xfrm>
          <a:prstGeom prst="roundRect">
            <a:avLst>
              <a:gd name="adj" fmla="val 7143"/>
            </a:avLst>
          </a:prstGeom>
          <a:solidFill>
            <a:srgbClr val="02C39A">
              <a:alpha val="90000"/>
            </a:srgbClr>
          </a:solidFill>
          <a:ln/>
        </p:spPr>
      </p:sp>
      <p:sp>
        <p:nvSpPr>
          <p:cNvPr id="57" name="Text 54"/>
          <p:cNvSpPr/>
          <p:nvPr/>
        </p:nvSpPr>
        <p:spPr>
          <a:xfrm>
            <a:off x="6766560" y="38404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58" name="Shape 55"/>
          <p:cNvSpPr/>
          <p:nvPr/>
        </p:nvSpPr>
        <p:spPr>
          <a:xfrm>
            <a:off x="7479792" y="3840480"/>
            <a:ext cx="640080" cy="640080"/>
          </a:xfrm>
          <a:prstGeom prst="roundRect">
            <a:avLst>
              <a:gd name="adj" fmla="val 7143"/>
            </a:avLst>
          </a:prstGeom>
          <a:solidFill>
            <a:srgbClr val="02C39A">
              <a:alpha val="90000"/>
            </a:srgbClr>
          </a:solidFill>
          <a:ln/>
        </p:spPr>
      </p:sp>
      <p:sp>
        <p:nvSpPr>
          <p:cNvPr id="59" name="Text 56"/>
          <p:cNvSpPr/>
          <p:nvPr/>
        </p:nvSpPr>
        <p:spPr>
          <a:xfrm>
            <a:off x="7479792" y="38404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60" name="Shape 57"/>
          <p:cNvSpPr/>
          <p:nvPr/>
        </p:nvSpPr>
        <p:spPr>
          <a:xfrm>
            <a:off x="8193024" y="3840480"/>
            <a:ext cx="640080" cy="640080"/>
          </a:xfrm>
          <a:prstGeom prst="roundRect">
            <a:avLst>
              <a:gd name="adj" fmla="val 7143"/>
            </a:avLst>
          </a:prstGeom>
          <a:solidFill>
            <a:srgbClr val="02C39A">
              <a:alpha val="90000"/>
            </a:srgbClr>
          </a:solidFill>
          <a:ln/>
        </p:spPr>
      </p:sp>
      <p:sp>
        <p:nvSpPr>
          <p:cNvPr id="61" name="Text 58"/>
          <p:cNvSpPr/>
          <p:nvPr/>
        </p:nvSpPr>
        <p:spPr>
          <a:xfrm>
            <a:off x="8193024" y="38404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62" name="Shape 59"/>
          <p:cNvSpPr/>
          <p:nvPr/>
        </p:nvSpPr>
        <p:spPr>
          <a:xfrm>
            <a:off x="8906256" y="3840480"/>
            <a:ext cx="640080" cy="640080"/>
          </a:xfrm>
          <a:prstGeom prst="roundRect">
            <a:avLst>
              <a:gd name="adj" fmla="val 7143"/>
            </a:avLst>
          </a:prstGeom>
          <a:solidFill>
            <a:srgbClr val="02C39A">
              <a:alpha val="90000"/>
            </a:srgbClr>
          </a:solidFill>
          <a:ln/>
        </p:spPr>
      </p:sp>
      <p:sp>
        <p:nvSpPr>
          <p:cNvPr id="63" name="Text 60"/>
          <p:cNvSpPr/>
          <p:nvPr/>
        </p:nvSpPr>
        <p:spPr>
          <a:xfrm>
            <a:off x="8906256" y="38404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64" name="Shape 61"/>
          <p:cNvSpPr/>
          <p:nvPr/>
        </p:nvSpPr>
        <p:spPr>
          <a:xfrm>
            <a:off x="6766560" y="4553712"/>
            <a:ext cx="640080" cy="640080"/>
          </a:xfrm>
          <a:prstGeom prst="roundRect">
            <a:avLst>
              <a:gd name="adj" fmla="val 7143"/>
            </a:avLst>
          </a:prstGeom>
          <a:solidFill>
            <a:srgbClr val="02C39A">
              <a:alpha val="90000"/>
            </a:srgbClr>
          </a:solidFill>
          <a:ln/>
        </p:spPr>
      </p:sp>
      <p:sp>
        <p:nvSpPr>
          <p:cNvPr id="65" name="Text 62"/>
          <p:cNvSpPr/>
          <p:nvPr/>
        </p:nvSpPr>
        <p:spPr>
          <a:xfrm>
            <a:off x="6766560" y="4553712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200" dirty="0"/>
          </a:p>
        </p:txBody>
      </p:sp>
      <p:sp>
        <p:nvSpPr>
          <p:cNvPr id="66" name="Shape 63"/>
          <p:cNvSpPr/>
          <p:nvPr/>
        </p:nvSpPr>
        <p:spPr>
          <a:xfrm>
            <a:off x="7479792" y="4553712"/>
            <a:ext cx="640080" cy="640080"/>
          </a:xfrm>
          <a:prstGeom prst="roundRect">
            <a:avLst>
              <a:gd name="adj" fmla="val 7143"/>
            </a:avLst>
          </a:prstGeom>
          <a:solidFill>
            <a:srgbClr val="02C39A">
              <a:alpha val="90000"/>
            </a:srgbClr>
          </a:solidFill>
          <a:ln/>
        </p:spPr>
      </p:sp>
      <p:sp>
        <p:nvSpPr>
          <p:cNvPr id="67" name="Text 64"/>
          <p:cNvSpPr/>
          <p:nvPr/>
        </p:nvSpPr>
        <p:spPr>
          <a:xfrm>
            <a:off x="7479792" y="4553712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200" dirty="0"/>
          </a:p>
        </p:txBody>
      </p:sp>
      <p:sp>
        <p:nvSpPr>
          <p:cNvPr id="68" name="Shape 65"/>
          <p:cNvSpPr/>
          <p:nvPr/>
        </p:nvSpPr>
        <p:spPr>
          <a:xfrm>
            <a:off x="8193024" y="4553712"/>
            <a:ext cx="640080" cy="640080"/>
          </a:xfrm>
          <a:prstGeom prst="roundRect">
            <a:avLst>
              <a:gd name="adj" fmla="val 7143"/>
            </a:avLst>
          </a:prstGeom>
          <a:solidFill>
            <a:srgbClr val="02C39A">
              <a:alpha val="90000"/>
            </a:srgbClr>
          </a:solidFill>
          <a:ln/>
        </p:spPr>
      </p:sp>
      <p:sp>
        <p:nvSpPr>
          <p:cNvPr id="69" name="Text 66"/>
          <p:cNvSpPr/>
          <p:nvPr/>
        </p:nvSpPr>
        <p:spPr>
          <a:xfrm>
            <a:off x="8193024" y="4553712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200" dirty="0"/>
          </a:p>
        </p:txBody>
      </p:sp>
      <p:sp>
        <p:nvSpPr>
          <p:cNvPr id="70" name="Shape 67"/>
          <p:cNvSpPr/>
          <p:nvPr/>
        </p:nvSpPr>
        <p:spPr>
          <a:xfrm>
            <a:off x="8906256" y="4553712"/>
            <a:ext cx="640080" cy="640080"/>
          </a:xfrm>
          <a:prstGeom prst="roundRect">
            <a:avLst>
              <a:gd name="adj" fmla="val 7143"/>
            </a:avLst>
          </a:prstGeom>
          <a:solidFill>
            <a:srgbClr val="02C39A">
              <a:alpha val="90000"/>
            </a:srgbClr>
          </a:solidFill>
          <a:ln/>
        </p:spPr>
      </p:sp>
      <p:sp>
        <p:nvSpPr>
          <p:cNvPr id="71" name="Text 68"/>
          <p:cNvSpPr/>
          <p:nvPr/>
        </p:nvSpPr>
        <p:spPr>
          <a:xfrm>
            <a:off x="8906256" y="4553712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200" dirty="0"/>
          </a:p>
        </p:txBody>
      </p:sp>
      <p:sp>
        <p:nvSpPr>
          <p:cNvPr id="72" name="Text 69"/>
          <p:cNvSpPr/>
          <p:nvPr/>
        </p:nvSpPr>
        <p:spPr>
          <a:xfrm>
            <a:off x="6675120" y="5404104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C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12 values, same order — just a new shape.</a:t>
            </a:r>
            <a:endParaRPr lang="en-US" sz="1100" dirty="0"/>
          </a:p>
        </p:txBody>
      </p:sp>
      <p:sp>
        <p:nvSpPr>
          <p:cNvPr id="73" name="Text 70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 for Numerical Data Analysis</a:t>
            </a:r>
            <a:endParaRPr lang="en-US" sz="900" dirty="0"/>
          </a:p>
        </p:txBody>
      </p:sp>
      <p:sp>
        <p:nvSpPr>
          <p:cNvPr id="74" name="Text 71"/>
          <p:cNvSpPr/>
          <p:nvPr/>
        </p:nvSpPr>
        <p:spPr>
          <a:xfrm>
            <a:off x="1161288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FD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TOOLKIT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Linear Algebra with NumPy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9341" y="1675181"/>
            <a:ext cx="307238" cy="30723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80160" y="1554480"/>
            <a:ext cx="10241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1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np.linalg module and the @ operator bring matrix algebra—the foundation of machine learning and simulation—directly into arrays.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48640" y="2514600"/>
            <a:ext cx="2743200" cy="2011680"/>
          </a:xfrm>
          <a:prstGeom prst="roundRect">
            <a:avLst>
              <a:gd name="adj" fmla="val 4091"/>
            </a:avLst>
          </a:prstGeom>
          <a:solidFill>
            <a:srgbClr val="F0F7F6"/>
          </a:solidFill>
          <a:ln/>
        </p:spPr>
      </p:sp>
      <p:sp>
        <p:nvSpPr>
          <p:cNvPr id="8" name="Text 5"/>
          <p:cNvSpPr/>
          <p:nvPr/>
        </p:nvSpPr>
        <p:spPr>
          <a:xfrm>
            <a:off x="731520" y="269748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Matrix multiplication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31520" y="32004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@ B or np.dot(A, B)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731520" y="361188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C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two matrices following linear algebra rules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3429000" y="2514600"/>
            <a:ext cx="2743200" cy="2011680"/>
          </a:xfrm>
          <a:prstGeom prst="roundRect">
            <a:avLst>
              <a:gd name="adj" fmla="val 4091"/>
            </a:avLst>
          </a:prstGeom>
          <a:solidFill>
            <a:srgbClr val="F0F7F6"/>
          </a:solidFill>
          <a:ln/>
        </p:spPr>
      </p:sp>
      <p:sp>
        <p:nvSpPr>
          <p:cNvPr id="12" name="Text 9"/>
          <p:cNvSpPr/>
          <p:nvPr/>
        </p:nvSpPr>
        <p:spPr>
          <a:xfrm>
            <a:off x="3611880" y="269748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Determinant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3611880" y="32004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np.linalg.det(A)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3611880" y="361188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C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scalar describing the matrix’s scaling factor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6309360" y="2514600"/>
            <a:ext cx="2743200" cy="2011680"/>
          </a:xfrm>
          <a:prstGeom prst="roundRect">
            <a:avLst>
              <a:gd name="adj" fmla="val 4091"/>
            </a:avLst>
          </a:prstGeom>
          <a:solidFill>
            <a:srgbClr val="F0F7F6"/>
          </a:solidFill>
          <a:ln/>
        </p:spPr>
      </p:sp>
      <p:sp>
        <p:nvSpPr>
          <p:cNvPr id="16" name="Text 13"/>
          <p:cNvSpPr/>
          <p:nvPr/>
        </p:nvSpPr>
        <p:spPr>
          <a:xfrm>
            <a:off x="6492240" y="269748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Inverse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6492240" y="32004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np.linalg.inv(A)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6492240" y="361188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C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matrix that reverses A’s transformation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9189720" y="2514600"/>
            <a:ext cx="2743200" cy="2011680"/>
          </a:xfrm>
          <a:prstGeom prst="roundRect">
            <a:avLst>
              <a:gd name="adj" fmla="val 4091"/>
            </a:avLst>
          </a:prstGeom>
          <a:solidFill>
            <a:srgbClr val="F0F7F6"/>
          </a:solidFill>
          <a:ln/>
        </p:spPr>
      </p:sp>
      <p:sp>
        <p:nvSpPr>
          <p:cNvPr id="20" name="Text 17"/>
          <p:cNvSpPr/>
          <p:nvPr/>
        </p:nvSpPr>
        <p:spPr>
          <a:xfrm>
            <a:off x="9372600" y="269748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Eigenvalues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9372600" y="32004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np.linalg.eig(A)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9372600" y="361188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C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Values and directions preserved under transformation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548640" y="48006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C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throughout regression, PCA, neural networks, and physics/engineering simulations.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 for Numerical Data Analysis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1161288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D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TOOLKIT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Random Sampling &amp; Missing Data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394960" cy="4480560"/>
          </a:xfrm>
          <a:prstGeom prst="roundRect">
            <a:avLst>
              <a:gd name="adj" fmla="val 2041"/>
            </a:avLst>
          </a:prstGeom>
          <a:solidFill>
            <a:srgbClr val="F0F7F6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783080"/>
            <a:ext cx="502920" cy="50292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3602" y="1893722"/>
            <a:ext cx="281635" cy="28163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182880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Random Module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22960" y="2377440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C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np.random powers simulations, sampling, and test-data generation.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822960" y="2971800"/>
            <a:ext cx="48463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100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rng = np.random.default_rng(42)</a:t>
            </a:r>
            <a:endParaRPr lang="en-US" sz="11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00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rng.random(5)      # uniform [0,1)</a:t>
            </a:r>
            <a:endParaRPr lang="en-US" sz="11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00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rng.normal(0, 1, 100)  # gaussian</a:t>
            </a:r>
            <a:endParaRPr lang="en-US" sz="11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00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rng.integers(0, 10, 5) # random ints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822960" y="4709160"/>
            <a:ext cx="48463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i="1" dirty="0">
                <a:solidFill>
                  <a:srgbClr val="5C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Seeding (42) makes results reproducible — essential for testing and sharing analysis.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6172200" y="1508760"/>
            <a:ext cx="5440680" cy="4480560"/>
          </a:xfrm>
          <a:prstGeom prst="roundRect">
            <a:avLst>
              <a:gd name="adj" fmla="val 2041"/>
            </a:avLst>
          </a:prstGeom>
          <a:solidFill>
            <a:srgbClr val="F0F7F6"/>
          </a:solidFill>
          <a:ln/>
        </p:spPr>
      </p:sp>
      <p:sp>
        <p:nvSpPr>
          <p:cNvPr id="12" name="Shape 9"/>
          <p:cNvSpPr/>
          <p:nvPr/>
        </p:nvSpPr>
        <p:spPr>
          <a:xfrm>
            <a:off x="6446520" y="1783080"/>
            <a:ext cx="502920" cy="502920"/>
          </a:xfrm>
          <a:prstGeom prst="ellipse">
            <a:avLst/>
          </a:prstGeom>
          <a:solidFill>
            <a:srgbClr val="E07A5F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7162" y="1893722"/>
            <a:ext cx="281635" cy="281635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086600" y="182880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Handling Missing Data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6446520" y="2377440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C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data is rarely complete. NumPy represents gaps explicitly instead of guessing.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6446520" y="2971800"/>
            <a:ext cx="49377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100" dirty="0">
                <a:solidFill>
                  <a:srgbClr val="B850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np.nan          # a missing/undefined value</a:t>
            </a:r>
            <a:endParaRPr lang="en-US" sz="11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00" dirty="0">
                <a:solidFill>
                  <a:srgbClr val="B850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np.isnan(arr)   # boolean mask of gaps</a:t>
            </a:r>
            <a:endParaRPr lang="en-US" sz="11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00" dirty="0">
                <a:solidFill>
                  <a:srgbClr val="B850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np.isinf(arr)   # detect +/- infinity</a:t>
            </a:r>
            <a:endParaRPr lang="en-US" sz="11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00" dirty="0">
                <a:solidFill>
                  <a:srgbClr val="B850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arr[~np.isnan(arr)]  # drop the gaps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6446520" y="4709160"/>
            <a:ext cx="49377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i="1" dirty="0">
                <a:solidFill>
                  <a:srgbClr val="5C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np.nanmean(), np.nansum() and friends ignore NaNs automatically during aggregation.</a:t>
            </a:r>
            <a:endParaRPr lang="en-US" sz="1150" dirty="0"/>
          </a:p>
        </p:txBody>
      </p:sp>
      <p:sp>
        <p:nvSpPr>
          <p:cNvPr id="18" name="Text 14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 for Numerical Data Analysis</a:t>
            </a:r>
            <a:endParaRPr lang="en-US" sz="900" dirty="0"/>
          </a:p>
        </p:txBody>
      </p:sp>
      <p:sp>
        <p:nvSpPr>
          <p:cNvPr id="19" name="Text 15"/>
          <p:cNvSpPr/>
          <p:nvPr/>
        </p:nvSpPr>
        <p:spPr>
          <a:xfrm>
            <a:off x="1161288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BFD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PRACTICE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NumPy's Place in the Data Stack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9341" y="1675181"/>
            <a:ext cx="307238" cy="30723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80160" y="1536192"/>
            <a:ext cx="10058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1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 is the shared foundation underneath almost every other data and ML library in Python—they all read and write ndarrays.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48640" y="2514600"/>
            <a:ext cx="2331720" cy="3383280"/>
          </a:xfrm>
          <a:prstGeom prst="roundRect">
            <a:avLst>
              <a:gd name="adj" fmla="val 4706"/>
            </a:avLst>
          </a:prstGeom>
          <a:solidFill>
            <a:srgbClr val="073B3A"/>
          </a:solidFill>
          <a:ln/>
        </p:spPr>
      </p:sp>
      <p:sp>
        <p:nvSpPr>
          <p:cNvPr id="8" name="Shape 5"/>
          <p:cNvSpPr/>
          <p:nvPr/>
        </p:nvSpPr>
        <p:spPr>
          <a:xfrm>
            <a:off x="932688" y="3246120"/>
            <a:ext cx="1554480" cy="155448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9" name="Text 6"/>
          <p:cNvSpPr/>
          <p:nvPr/>
        </p:nvSpPr>
        <p:spPr>
          <a:xfrm>
            <a:off x="932688" y="3246120"/>
            <a:ext cx="1554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73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Np</a:t>
            </a:r>
            <a:endParaRPr lang="en-US" sz="3000" dirty="0"/>
          </a:p>
        </p:txBody>
      </p:sp>
      <p:sp>
        <p:nvSpPr>
          <p:cNvPr id="10" name="Text 7"/>
          <p:cNvSpPr/>
          <p:nvPr/>
        </p:nvSpPr>
        <p:spPr>
          <a:xfrm>
            <a:off x="685800" y="4937760"/>
            <a:ext cx="2057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</a:t>
            </a:r>
            <a:endParaRPr lang="en-US" sz="1250" dirty="0"/>
          </a:p>
          <a:p>
            <a:pPr algn="ctr"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ndarray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3200400" y="2514600"/>
            <a:ext cx="4206240" cy="1572768"/>
          </a:xfrm>
          <a:prstGeom prst="roundRect">
            <a:avLst>
              <a:gd name="adj" fmla="val 4651"/>
            </a:avLst>
          </a:prstGeom>
          <a:solidFill>
            <a:srgbClr val="F0F7F6"/>
          </a:solidFill>
          <a:ln/>
        </p:spPr>
      </p:sp>
      <p:sp>
        <p:nvSpPr>
          <p:cNvPr id="12" name="Shape 9"/>
          <p:cNvSpPr/>
          <p:nvPr/>
        </p:nvSpPr>
        <p:spPr>
          <a:xfrm>
            <a:off x="3429000" y="2770632"/>
            <a:ext cx="146304" cy="146304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3" name="Text 10"/>
          <p:cNvSpPr/>
          <p:nvPr/>
        </p:nvSpPr>
        <p:spPr>
          <a:xfrm>
            <a:off x="3703320" y="2679192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3429000" y="3136392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C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Labeled, tabular data structures built directly on ndarrays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7635240" y="2514600"/>
            <a:ext cx="4206240" cy="1572768"/>
          </a:xfrm>
          <a:prstGeom prst="roundRect">
            <a:avLst>
              <a:gd name="adj" fmla="val 4651"/>
            </a:avLst>
          </a:prstGeom>
          <a:solidFill>
            <a:srgbClr val="F0F7F6"/>
          </a:solidFill>
          <a:ln/>
        </p:spPr>
      </p:sp>
      <p:sp>
        <p:nvSpPr>
          <p:cNvPr id="16" name="Shape 13"/>
          <p:cNvSpPr/>
          <p:nvPr/>
        </p:nvSpPr>
        <p:spPr>
          <a:xfrm>
            <a:off x="7863840" y="2770632"/>
            <a:ext cx="146304" cy="146304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7" name="Text 14"/>
          <p:cNvSpPr/>
          <p:nvPr/>
        </p:nvSpPr>
        <p:spPr>
          <a:xfrm>
            <a:off x="8138160" y="2679192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7863840" y="3136392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C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Plots and charts rendered straight from array data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3200400" y="4315968"/>
            <a:ext cx="4206240" cy="1572768"/>
          </a:xfrm>
          <a:prstGeom prst="roundRect">
            <a:avLst>
              <a:gd name="adj" fmla="val 4651"/>
            </a:avLst>
          </a:prstGeom>
          <a:solidFill>
            <a:srgbClr val="F0F7F6"/>
          </a:solidFill>
          <a:ln/>
        </p:spPr>
      </p:sp>
      <p:sp>
        <p:nvSpPr>
          <p:cNvPr id="20" name="Shape 17"/>
          <p:cNvSpPr/>
          <p:nvPr/>
        </p:nvSpPr>
        <p:spPr>
          <a:xfrm>
            <a:off x="3429000" y="4572000"/>
            <a:ext cx="146304" cy="146304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1" name="Text 18"/>
          <p:cNvSpPr/>
          <p:nvPr/>
        </p:nvSpPr>
        <p:spPr>
          <a:xfrm>
            <a:off x="3703320" y="448056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SciPy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3429000" y="4937760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C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math, stats, and signal processing on NumPy’s core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7635240" y="4315968"/>
            <a:ext cx="4206240" cy="1572768"/>
          </a:xfrm>
          <a:prstGeom prst="roundRect">
            <a:avLst>
              <a:gd name="adj" fmla="val 4651"/>
            </a:avLst>
          </a:prstGeom>
          <a:solidFill>
            <a:srgbClr val="F0F7F6"/>
          </a:solidFill>
          <a:ln/>
        </p:spPr>
      </p:sp>
      <p:sp>
        <p:nvSpPr>
          <p:cNvPr id="24" name="Shape 21"/>
          <p:cNvSpPr/>
          <p:nvPr/>
        </p:nvSpPr>
        <p:spPr>
          <a:xfrm>
            <a:off x="7863840" y="4572000"/>
            <a:ext cx="146304" cy="146304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5" name="Text 22"/>
          <p:cNvSpPr/>
          <p:nvPr/>
        </p:nvSpPr>
        <p:spPr>
          <a:xfrm>
            <a:off x="8138160" y="448056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7863840" y="4937760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C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models take arrays as input and output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548640" y="608076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C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downstream: TensorFlow, PyTorch, Numba, and Dask all build their tensor and parallel-computing models on the same array foundation.</a:t>
            </a:r>
            <a:endParaRPr lang="en-US" sz="1150" dirty="0"/>
          </a:p>
        </p:txBody>
      </p:sp>
      <p:sp>
        <p:nvSpPr>
          <p:cNvPr id="28" name="Text 25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 for Numerical Data Analysis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1161288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BFD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PRACTICE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Performance: NumPy vs. Plain Python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Summing one million numbers — illustrative benchmark comparing a Python loop to a vectorized NumPy call.</a:t>
            </a:r>
            <a:endParaRPr lang="en-US" sz="13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731520" y="2011680"/>
          <a:ext cx="676656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7772400" y="2011680"/>
            <a:ext cx="3840480" cy="4023360"/>
          </a:xfrm>
          <a:prstGeom prst="roundRect">
            <a:avLst>
              <a:gd name="adj" fmla="val 2381"/>
            </a:avLst>
          </a:prstGeom>
          <a:solidFill>
            <a:srgbClr val="073B3A"/>
          </a:solidFill>
          <a:ln/>
        </p:spPr>
      </p:sp>
      <p:sp>
        <p:nvSpPr>
          <p:cNvPr id="7" name="Text 4"/>
          <p:cNvSpPr/>
          <p:nvPr/>
        </p:nvSpPr>
        <p:spPr>
          <a:xfrm>
            <a:off x="7772400" y="2468880"/>
            <a:ext cx="3840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~100x</a:t>
            </a:r>
            <a:endParaRPr lang="en-US" sz="5200" dirty="0"/>
          </a:p>
        </p:txBody>
      </p:sp>
      <p:sp>
        <p:nvSpPr>
          <p:cNvPr id="8" name="Text 5"/>
          <p:cNvSpPr/>
          <p:nvPr/>
        </p:nvSpPr>
        <p:spPr>
          <a:xfrm>
            <a:off x="7772400" y="3429000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than a native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for-loop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8046720" y="4297680"/>
            <a:ext cx="32918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BFE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operations run as compiled C code over contiguous memory, instead of interpreting Python bytecode for every element.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 for Numerical Data Analysis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161288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BFD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WRAP-UP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440680" cy="1874520"/>
          </a:xfrm>
          <a:prstGeom prst="roundRect">
            <a:avLst>
              <a:gd name="adj" fmla="val 4878"/>
            </a:avLst>
          </a:prstGeom>
          <a:solidFill>
            <a:srgbClr val="F0F7F6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965960"/>
            <a:ext cx="594360" cy="59436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3719" y="2096719"/>
            <a:ext cx="332842" cy="33284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265176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core object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22960" y="2971800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C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ndarray unifies how Python represents and computes on numerical data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172200" y="1691640"/>
            <a:ext cx="5440680" cy="1874520"/>
          </a:xfrm>
          <a:prstGeom prst="roundRect">
            <a:avLst>
              <a:gd name="adj" fmla="val 4878"/>
            </a:avLst>
          </a:prstGeom>
          <a:solidFill>
            <a:srgbClr val="F0F7F6"/>
          </a:solidFill>
          <a:ln/>
        </p:spPr>
      </p:sp>
      <p:sp>
        <p:nvSpPr>
          <p:cNvPr id="10" name="Shape 7"/>
          <p:cNvSpPr/>
          <p:nvPr/>
        </p:nvSpPr>
        <p:spPr>
          <a:xfrm>
            <a:off x="6446520" y="1965960"/>
            <a:ext cx="594360" cy="59436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7279" y="2096719"/>
            <a:ext cx="332842" cy="33284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446520" y="265176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 by default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6446520" y="2971800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C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Vectorization and broadcasting remove the need for manual loops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548640" y="3749040"/>
            <a:ext cx="5440680" cy="1874520"/>
          </a:xfrm>
          <a:prstGeom prst="roundRect">
            <a:avLst>
              <a:gd name="adj" fmla="val 4878"/>
            </a:avLst>
          </a:prstGeom>
          <a:solidFill>
            <a:srgbClr val="F0F7F6"/>
          </a:solidFill>
          <a:ln/>
        </p:spPr>
      </p:sp>
      <p:sp>
        <p:nvSpPr>
          <p:cNvPr id="15" name="Shape 11"/>
          <p:cNvSpPr/>
          <p:nvPr/>
        </p:nvSpPr>
        <p:spPr>
          <a:xfrm>
            <a:off x="822960" y="4023360"/>
            <a:ext cx="594360" cy="59436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3719" y="4154119"/>
            <a:ext cx="332842" cy="33284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22960" y="470916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shared foundation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822960" y="5029200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C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Pandas, SciPy, scikit-learn, and deep learning frameworks all build on it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6172200" y="3749040"/>
            <a:ext cx="5440680" cy="1874520"/>
          </a:xfrm>
          <a:prstGeom prst="roundRect">
            <a:avLst>
              <a:gd name="adj" fmla="val 4878"/>
            </a:avLst>
          </a:prstGeom>
          <a:solidFill>
            <a:srgbClr val="F0F7F6"/>
          </a:solidFill>
          <a:ln/>
        </p:spPr>
      </p:sp>
      <p:sp>
        <p:nvSpPr>
          <p:cNvPr id="20" name="Shape 15"/>
          <p:cNvSpPr/>
          <p:nvPr/>
        </p:nvSpPr>
        <p:spPr>
          <a:xfrm>
            <a:off x="6446520" y="4023360"/>
            <a:ext cx="594360" cy="59436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77279" y="4154119"/>
            <a:ext cx="332842" cy="33284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446520" y="470916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 analysis toolkit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6446520" y="5029200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C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Statistics, linear algebra, and random sampling in one library</a:t>
            </a:r>
            <a:endParaRPr lang="en-US" sz="1150" dirty="0"/>
          </a:p>
        </p:txBody>
      </p:sp>
      <p:sp>
        <p:nvSpPr>
          <p:cNvPr id="24" name="Text 18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 for Numerical Data Analysis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1161288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73B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48640"/>
            <a:ext cx="82296" cy="82296"/>
          </a:xfrm>
          <a:prstGeom prst="ellipse">
            <a:avLst/>
          </a:prstGeom>
          <a:solidFill>
            <a:srgbClr val="00A896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841248"/>
            <a:ext cx="82296" cy="82296"/>
          </a:xfrm>
          <a:prstGeom prst="ellipse">
            <a:avLst/>
          </a:prstGeom>
          <a:solidFill>
            <a:srgbClr val="00A896">
              <a:alpha val="4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133856"/>
            <a:ext cx="82296" cy="82296"/>
          </a:xfrm>
          <a:prstGeom prst="ellipse">
            <a:avLst/>
          </a:prstGeom>
          <a:solidFill>
            <a:srgbClr val="00A896">
              <a:alpha val="4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426464"/>
            <a:ext cx="82296" cy="82296"/>
          </a:xfrm>
          <a:prstGeom prst="ellipse">
            <a:avLst/>
          </a:prstGeom>
          <a:solidFill>
            <a:srgbClr val="00A896">
              <a:alpha val="4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719072"/>
            <a:ext cx="82296" cy="82296"/>
          </a:xfrm>
          <a:prstGeom prst="ellipse">
            <a:avLst/>
          </a:prstGeom>
          <a:solidFill>
            <a:srgbClr val="00A896">
              <a:alpha val="4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841248" y="548640"/>
            <a:ext cx="82296" cy="82296"/>
          </a:xfrm>
          <a:prstGeom prst="ellipse">
            <a:avLst/>
          </a:prstGeom>
          <a:solidFill>
            <a:srgbClr val="00A896">
              <a:alpha val="4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841248" y="841248"/>
            <a:ext cx="82296" cy="82296"/>
          </a:xfrm>
          <a:prstGeom prst="ellipse">
            <a:avLst/>
          </a:prstGeom>
          <a:solidFill>
            <a:srgbClr val="00A896">
              <a:alpha val="4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841248" y="1133856"/>
            <a:ext cx="82296" cy="82296"/>
          </a:xfrm>
          <a:prstGeom prst="ellipse">
            <a:avLst/>
          </a:prstGeom>
          <a:solidFill>
            <a:srgbClr val="00A896">
              <a:alpha val="4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841248" y="1426464"/>
            <a:ext cx="82296" cy="82296"/>
          </a:xfrm>
          <a:prstGeom prst="ellipse">
            <a:avLst/>
          </a:prstGeom>
          <a:solidFill>
            <a:srgbClr val="00A896">
              <a:alpha val="4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841248" y="1719072"/>
            <a:ext cx="82296" cy="82296"/>
          </a:xfrm>
          <a:prstGeom prst="ellipse">
            <a:avLst/>
          </a:prstGeom>
          <a:solidFill>
            <a:srgbClr val="00A896">
              <a:alpha val="4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1133856" y="548640"/>
            <a:ext cx="82296" cy="82296"/>
          </a:xfrm>
          <a:prstGeom prst="ellipse">
            <a:avLst/>
          </a:prstGeom>
          <a:solidFill>
            <a:srgbClr val="00A896">
              <a:alpha val="4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1133856" y="841248"/>
            <a:ext cx="82296" cy="82296"/>
          </a:xfrm>
          <a:prstGeom prst="ellipse">
            <a:avLst/>
          </a:prstGeom>
          <a:solidFill>
            <a:srgbClr val="00A896">
              <a:alpha val="4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1133856" y="1133856"/>
            <a:ext cx="82296" cy="82296"/>
          </a:xfrm>
          <a:prstGeom prst="ellipse">
            <a:avLst/>
          </a:prstGeom>
          <a:solidFill>
            <a:srgbClr val="00A896">
              <a:alpha val="4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133856" y="1426464"/>
            <a:ext cx="82296" cy="82296"/>
          </a:xfrm>
          <a:prstGeom prst="ellipse">
            <a:avLst/>
          </a:prstGeom>
          <a:solidFill>
            <a:srgbClr val="00A896">
              <a:alpha val="40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1133856" y="1719072"/>
            <a:ext cx="82296" cy="82296"/>
          </a:xfrm>
          <a:prstGeom prst="ellipse">
            <a:avLst/>
          </a:prstGeom>
          <a:solidFill>
            <a:srgbClr val="00A896">
              <a:alpha val="40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1426464" y="548640"/>
            <a:ext cx="82296" cy="82296"/>
          </a:xfrm>
          <a:prstGeom prst="ellipse">
            <a:avLst/>
          </a:prstGeom>
          <a:solidFill>
            <a:srgbClr val="00A896">
              <a:alpha val="40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1426464" y="841248"/>
            <a:ext cx="82296" cy="82296"/>
          </a:xfrm>
          <a:prstGeom prst="ellipse">
            <a:avLst/>
          </a:prstGeom>
          <a:solidFill>
            <a:srgbClr val="00A896">
              <a:alpha val="40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1426464" y="1133856"/>
            <a:ext cx="82296" cy="82296"/>
          </a:xfrm>
          <a:prstGeom prst="ellipse">
            <a:avLst/>
          </a:prstGeom>
          <a:solidFill>
            <a:srgbClr val="00A896">
              <a:alpha val="40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1426464" y="1426464"/>
            <a:ext cx="82296" cy="82296"/>
          </a:xfrm>
          <a:prstGeom prst="ellipse">
            <a:avLst/>
          </a:prstGeom>
          <a:solidFill>
            <a:srgbClr val="00A896">
              <a:alpha val="40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1426464" y="1719072"/>
            <a:ext cx="82296" cy="82296"/>
          </a:xfrm>
          <a:prstGeom prst="ellipse">
            <a:avLst/>
          </a:prstGeom>
          <a:solidFill>
            <a:srgbClr val="00A896">
              <a:alpha val="40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1719072" y="548640"/>
            <a:ext cx="82296" cy="82296"/>
          </a:xfrm>
          <a:prstGeom prst="ellipse">
            <a:avLst/>
          </a:prstGeom>
          <a:solidFill>
            <a:srgbClr val="00A896">
              <a:alpha val="40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1719072" y="841248"/>
            <a:ext cx="82296" cy="82296"/>
          </a:xfrm>
          <a:prstGeom prst="ellipse">
            <a:avLst/>
          </a:prstGeom>
          <a:solidFill>
            <a:srgbClr val="00A896">
              <a:alpha val="40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1719072" y="1133856"/>
            <a:ext cx="82296" cy="82296"/>
          </a:xfrm>
          <a:prstGeom prst="ellipse">
            <a:avLst/>
          </a:prstGeom>
          <a:solidFill>
            <a:srgbClr val="00A896">
              <a:alpha val="40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1719072" y="1426464"/>
            <a:ext cx="82296" cy="82296"/>
          </a:xfrm>
          <a:prstGeom prst="ellipse">
            <a:avLst/>
          </a:prstGeom>
          <a:solidFill>
            <a:srgbClr val="00A896">
              <a:alpha val="40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1719072" y="1719072"/>
            <a:ext cx="82296" cy="82296"/>
          </a:xfrm>
          <a:prstGeom prst="ellipse">
            <a:avLst/>
          </a:prstGeom>
          <a:solidFill>
            <a:srgbClr val="00A896">
              <a:alpha val="40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2011680" y="548640"/>
            <a:ext cx="82296" cy="82296"/>
          </a:xfrm>
          <a:prstGeom prst="ellipse">
            <a:avLst/>
          </a:prstGeom>
          <a:solidFill>
            <a:srgbClr val="00A896">
              <a:alpha val="40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2011680" y="841248"/>
            <a:ext cx="82296" cy="82296"/>
          </a:xfrm>
          <a:prstGeom prst="ellipse">
            <a:avLst/>
          </a:prstGeom>
          <a:solidFill>
            <a:srgbClr val="00A896">
              <a:alpha val="40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2011680" y="1133856"/>
            <a:ext cx="82296" cy="82296"/>
          </a:xfrm>
          <a:prstGeom prst="ellipse">
            <a:avLst/>
          </a:prstGeom>
          <a:solidFill>
            <a:srgbClr val="00A896">
              <a:alpha val="40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2011680" y="1426464"/>
            <a:ext cx="82296" cy="82296"/>
          </a:xfrm>
          <a:prstGeom prst="ellipse">
            <a:avLst/>
          </a:prstGeom>
          <a:solidFill>
            <a:srgbClr val="00A896">
              <a:alpha val="40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2011680" y="1719072"/>
            <a:ext cx="82296" cy="82296"/>
          </a:xfrm>
          <a:prstGeom prst="ellipse">
            <a:avLst/>
          </a:prstGeom>
          <a:solidFill>
            <a:srgbClr val="00A896">
              <a:alpha val="40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2304288" y="548640"/>
            <a:ext cx="82296" cy="82296"/>
          </a:xfrm>
          <a:prstGeom prst="ellipse">
            <a:avLst/>
          </a:prstGeom>
          <a:solidFill>
            <a:srgbClr val="00A896">
              <a:alpha val="40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2304288" y="841248"/>
            <a:ext cx="82296" cy="82296"/>
          </a:xfrm>
          <a:prstGeom prst="ellipse">
            <a:avLst/>
          </a:prstGeom>
          <a:solidFill>
            <a:srgbClr val="00A896">
              <a:alpha val="40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2304288" y="1133856"/>
            <a:ext cx="82296" cy="82296"/>
          </a:xfrm>
          <a:prstGeom prst="ellipse">
            <a:avLst/>
          </a:prstGeom>
          <a:solidFill>
            <a:srgbClr val="00A896">
              <a:alpha val="40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2304288" y="1426464"/>
            <a:ext cx="82296" cy="82296"/>
          </a:xfrm>
          <a:prstGeom prst="ellipse">
            <a:avLst/>
          </a:prstGeom>
          <a:solidFill>
            <a:srgbClr val="00A896">
              <a:alpha val="40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2304288" y="1719072"/>
            <a:ext cx="82296" cy="82296"/>
          </a:xfrm>
          <a:prstGeom prst="ellipse">
            <a:avLst/>
          </a:prstGeom>
          <a:solidFill>
            <a:srgbClr val="00A896">
              <a:alpha val="40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9875520" y="4846320"/>
            <a:ext cx="73152" cy="73152"/>
          </a:xfrm>
          <a:prstGeom prst="ellipse">
            <a:avLst/>
          </a:prstGeom>
          <a:solidFill>
            <a:srgbClr val="02C39A">
              <a:alpha val="40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9875520" y="5120640"/>
            <a:ext cx="73152" cy="73152"/>
          </a:xfrm>
          <a:prstGeom prst="ellipse">
            <a:avLst/>
          </a:prstGeom>
          <a:solidFill>
            <a:srgbClr val="02C39A">
              <a:alpha val="40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9875520" y="5394960"/>
            <a:ext cx="73152" cy="73152"/>
          </a:xfrm>
          <a:prstGeom prst="ellipse">
            <a:avLst/>
          </a:prstGeom>
          <a:solidFill>
            <a:srgbClr val="02C39A">
              <a:alpha val="40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9875520" y="5669280"/>
            <a:ext cx="73152" cy="73152"/>
          </a:xfrm>
          <a:prstGeom prst="ellipse">
            <a:avLst/>
          </a:prstGeom>
          <a:solidFill>
            <a:srgbClr val="02C39A">
              <a:alpha val="40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9875520" y="5943600"/>
            <a:ext cx="73152" cy="73152"/>
          </a:xfrm>
          <a:prstGeom prst="ellipse">
            <a:avLst/>
          </a:prstGeom>
          <a:solidFill>
            <a:srgbClr val="02C39A">
              <a:alpha val="40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9875520" y="6217920"/>
            <a:ext cx="73152" cy="73152"/>
          </a:xfrm>
          <a:prstGeom prst="ellipse">
            <a:avLst/>
          </a:prstGeom>
          <a:solidFill>
            <a:srgbClr val="02C39A">
              <a:alpha val="40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10149840" y="4846320"/>
            <a:ext cx="73152" cy="73152"/>
          </a:xfrm>
          <a:prstGeom prst="ellipse">
            <a:avLst/>
          </a:prstGeom>
          <a:solidFill>
            <a:srgbClr val="02C39A">
              <a:alpha val="40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10149840" y="5120640"/>
            <a:ext cx="73152" cy="73152"/>
          </a:xfrm>
          <a:prstGeom prst="ellipse">
            <a:avLst/>
          </a:prstGeom>
          <a:solidFill>
            <a:srgbClr val="02C39A">
              <a:alpha val="40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10149840" y="5394960"/>
            <a:ext cx="73152" cy="73152"/>
          </a:xfrm>
          <a:prstGeom prst="ellipse">
            <a:avLst/>
          </a:prstGeom>
          <a:solidFill>
            <a:srgbClr val="02C39A">
              <a:alpha val="40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10149840" y="5669280"/>
            <a:ext cx="73152" cy="73152"/>
          </a:xfrm>
          <a:prstGeom prst="ellipse">
            <a:avLst/>
          </a:prstGeom>
          <a:solidFill>
            <a:srgbClr val="02C39A">
              <a:alpha val="40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10149840" y="5943600"/>
            <a:ext cx="73152" cy="73152"/>
          </a:xfrm>
          <a:prstGeom prst="ellipse">
            <a:avLst/>
          </a:prstGeom>
          <a:solidFill>
            <a:srgbClr val="02C39A">
              <a:alpha val="40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10149840" y="6217920"/>
            <a:ext cx="73152" cy="73152"/>
          </a:xfrm>
          <a:prstGeom prst="ellipse">
            <a:avLst/>
          </a:prstGeom>
          <a:solidFill>
            <a:srgbClr val="02C39A">
              <a:alpha val="40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10424160" y="4846320"/>
            <a:ext cx="73152" cy="73152"/>
          </a:xfrm>
          <a:prstGeom prst="ellipse">
            <a:avLst/>
          </a:prstGeom>
          <a:solidFill>
            <a:srgbClr val="02C39A">
              <a:alpha val="40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10424160" y="5120640"/>
            <a:ext cx="73152" cy="73152"/>
          </a:xfrm>
          <a:prstGeom prst="ellipse">
            <a:avLst/>
          </a:prstGeom>
          <a:solidFill>
            <a:srgbClr val="02C39A">
              <a:alpha val="40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10424160" y="5394960"/>
            <a:ext cx="73152" cy="73152"/>
          </a:xfrm>
          <a:prstGeom prst="ellipse">
            <a:avLst/>
          </a:prstGeom>
          <a:solidFill>
            <a:srgbClr val="02C39A">
              <a:alpha val="40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10424160" y="5669280"/>
            <a:ext cx="73152" cy="73152"/>
          </a:xfrm>
          <a:prstGeom prst="ellipse">
            <a:avLst/>
          </a:prstGeom>
          <a:solidFill>
            <a:srgbClr val="02C39A">
              <a:alpha val="40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10424160" y="5943600"/>
            <a:ext cx="73152" cy="73152"/>
          </a:xfrm>
          <a:prstGeom prst="ellipse">
            <a:avLst/>
          </a:prstGeom>
          <a:solidFill>
            <a:srgbClr val="02C39A">
              <a:alpha val="40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10424160" y="6217920"/>
            <a:ext cx="73152" cy="73152"/>
          </a:xfrm>
          <a:prstGeom prst="ellipse">
            <a:avLst/>
          </a:prstGeom>
          <a:solidFill>
            <a:srgbClr val="02C39A">
              <a:alpha val="40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10698480" y="4846320"/>
            <a:ext cx="73152" cy="73152"/>
          </a:xfrm>
          <a:prstGeom prst="ellipse">
            <a:avLst/>
          </a:prstGeom>
          <a:solidFill>
            <a:srgbClr val="02C39A">
              <a:alpha val="40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10698480" y="5120640"/>
            <a:ext cx="73152" cy="73152"/>
          </a:xfrm>
          <a:prstGeom prst="ellipse">
            <a:avLst/>
          </a:prstGeom>
          <a:solidFill>
            <a:srgbClr val="02C39A">
              <a:alpha val="40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10698480" y="5394960"/>
            <a:ext cx="73152" cy="73152"/>
          </a:xfrm>
          <a:prstGeom prst="ellipse">
            <a:avLst/>
          </a:prstGeom>
          <a:solidFill>
            <a:srgbClr val="02C39A">
              <a:alpha val="40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10698480" y="5669280"/>
            <a:ext cx="73152" cy="73152"/>
          </a:xfrm>
          <a:prstGeom prst="ellipse">
            <a:avLst/>
          </a:prstGeom>
          <a:solidFill>
            <a:srgbClr val="02C39A">
              <a:alpha val="40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10698480" y="5943600"/>
            <a:ext cx="73152" cy="73152"/>
          </a:xfrm>
          <a:prstGeom prst="ellipse">
            <a:avLst/>
          </a:prstGeom>
          <a:solidFill>
            <a:srgbClr val="02C39A">
              <a:alpha val="40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10698480" y="6217920"/>
            <a:ext cx="73152" cy="73152"/>
          </a:xfrm>
          <a:prstGeom prst="ellipse">
            <a:avLst/>
          </a:prstGeom>
          <a:solidFill>
            <a:srgbClr val="02C39A">
              <a:alpha val="40000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10972800" y="4846320"/>
            <a:ext cx="73152" cy="73152"/>
          </a:xfrm>
          <a:prstGeom prst="ellipse">
            <a:avLst/>
          </a:prstGeom>
          <a:solidFill>
            <a:srgbClr val="02C39A">
              <a:alpha val="40000"/>
            </a:srgbClr>
          </a:solidFill>
          <a:ln/>
        </p:spPr>
      </p:sp>
      <p:sp>
        <p:nvSpPr>
          <p:cNvPr id="62" name="Shape 60"/>
          <p:cNvSpPr/>
          <p:nvPr/>
        </p:nvSpPr>
        <p:spPr>
          <a:xfrm>
            <a:off x="10972800" y="5120640"/>
            <a:ext cx="73152" cy="73152"/>
          </a:xfrm>
          <a:prstGeom prst="ellipse">
            <a:avLst/>
          </a:prstGeom>
          <a:solidFill>
            <a:srgbClr val="02C39A">
              <a:alpha val="40000"/>
            </a:srgbClr>
          </a:solidFill>
          <a:ln/>
        </p:spPr>
      </p:sp>
      <p:sp>
        <p:nvSpPr>
          <p:cNvPr id="63" name="Shape 61"/>
          <p:cNvSpPr/>
          <p:nvPr/>
        </p:nvSpPr>
        <p:spPr>
          <a:xfrm>
            <a:off x="10972800" y="5394960"/>
            <a:ext cx="73152" cy="73152"/>
          </a:xfrm>
          <a:prstGeom prst="ellipse">
            <a:avLst/>
          </a:prstGeom>
          <a:solidFill>
            <a:srgbClr val="02C39A">
              <a:alpha val="40000"/>
            </a:srgbClr>
          </a:solidFill>
          <a:ln/>
        </p:spPr>
      </p:sp>
      <p:sp>
        <p:nvSpPr>
          <p:cNvPr id="64" name="Shape 62"/>
          <p:cNvSpPr/>
          <p:nvPr/>
        </p:nvSpPr>
        <p:spPr>
          <a:xfrm>
            <a:off x="10972800" y="5669280"/>
            <a:ext cx="73152" cy="73152"/>
          </a:xfrm>
          <a:prstGeom prst="ellipse">
            <a:avLst/>
          </a:prstGeom>
          <a:solidFill>
            <a:srgbClr val="02C39A">
              <a:alpha val="40000"/>
            </a:srgbClr>
          </a:solidFill>
          <a:ln/>
        </p:spPr>
      </p:sp>
      <p:sp>
        <p:nvSpPr>
          <p:cNvPr id="65" name="Shape 63"/>
          <p:cNvSpPr/>
          <p:nvPr/>
        </p:nvSpPr>
        <p:spPr>
          <a:xfrm>
            <a:off x="10972800" y="5943600"/>
            <a:ext cx="73152" cy="73152"/>
          </a:xfrm>
          <a:prstGeom prst="ellipse">
            <a:avLst/>
          </a:prstGeom>
          <a:solidFill>
            <a:srgbClr val="02C39A">
              <a:alpha val="40000"/>
            </a:srgbClr>
          </a:solidFill>
          <a:ln/>
        </p:spPr>
      </p:sp>
      <p:sp>
        <p:nvSpPr>
          <p:cNvPr id="66" name="Shape 64"/>
          <p:cNvSpPr/>
          <p:nvPr/>
        </p:nvSpPr>
        <p:spPr>
          <a:xfrm>
            <a:off x="10972800" y="6217920"/>
            <a:ext cx="73152" cy="73152"/>
          </a:xfrm>
          <a:prstGeom prst="ellipse">
            <a:avLst/>
          </a:prstGeom>
          <a:solidFill>
            <a:srgbClr val="02C39A">
              <a:alpha val="40000"/>
            </a:srgbClr>
          </a:solidFill>
          <a:ln/>
        </p:spPr>
      </p:sp>
      <p:sp>
        <p:nvSpPr>
          <p:cNvPr id="67" name="Shape 65"/>
          <p:cNvSpPr/>
          <p:nvPr/>
        </p:nvSpPr>
        <p:spPr>
          <a:xfrm>
            <a:off x="11247120" y="4846320"/>
            <a:ext cx="73152" cy="73152"/>
          </a:xfrm>
          <a:prstGeom prst="ellipse">
            <a:avLst/>
          </a:prstGeom>
          <a:solidFill>
            <a:srgbClr val="02C39A">
              <a:alpha val="40000"/>
            </a:srgbClr>
          </a:solidFill>
          <a:ln/>
        </p:spPr>
      </p:sp>
      <p:sp>
        <p:nvSpPr>
          <p:cNvPr id="68" name="Shape 66"/>
          <p:cNvSpPr/>
          <p:nvPr/>
        </p:nvSpPr>
        <p:spPr>
          <a:xfrm>
            <a:off x="11247120" y="5120640"/>
            <a:ext cx="73152" cy="73152"/>
          </a:xfrm>
          <a:prstGeom prst="ellipse">
            <a:avLst/>
          </a:prstGeom>
          <a:solidFill>
            <a:srgbClr val="02C39A">
              <a:alpha val="40000"/>
            </a:srgbClr>
          </a:solidFill>
          <a:ln/>
        </p:spPr>
      </p:sp>
      <p:sp>
        <p:nvSpPr>
          <p:cNvPr id="69" name="Shape 67"/>
          <p:cNvSpPr/>
          <p:nvPr/>
        </p:nvSpPr>
        <p:spPr>
          <a:xfrm>
            <a:off x="11247120" y="5394960"/>
            <a:ext cx="73152" cy="73152"/>
          </a:xfrm>
          <a:prstGeom prst="ellipse">
            <a:avLst/>
          </a:prstGeom>
          <a:solidFill>
            <a:srgbClr val="02C39A">
              <a:alpha val="40000"/>
            </a:srgbClr>
          </a:solidFill>
          <a:ln/>
        </p:spPr>
      </p:sp>
      <p:sp>
        <p:nvSpPr>
          <p:cNvPr id="70" name="Shape 68"/>
          <p:cNvSpPr/>
          <p:nvPr/>
        </p:nvSpPr>
        <p:spPr>
          <a:xfrm>
            <a:off x="11247120" y="5669280"/>
            <a:ext cx="73152" cy="73152"/>
          </a:xfrm>
          <a:prstGeom prst="ellipse">
            <a:avLst/>
          </a:prstGeom>
          <a:solidFill>
            <a:srgbClr val="02C39A">
              <a:alpha val="40000"/>
            </a:srgbClr>
          </a:solidFill>
          <a:ln/>
        </p:spPr>
      </p:sp>
      <p:sp>
        <p:nvSpPr>
          <p:cNvPr id="71" name="Shape 69"/>
          <p:cNvSpPr/>
          <p:nvPr/>
        </p:nvSpPr>
        <p:spPr>
          <a:xfrm>
            <a:off x="11247120" y="5943600"/>
            <a:ext cx="73152" cy="73152"/>
          </a:xfrm>
          <a:prstGeom prst="ellipse">
            <a:avLst/>
          </a:prstGeom>
          <a:solidFill>
            <a:srgbClr val="02C39A">
              <a:alpha val="40000"/>
            </a:srgbClr>
          </a:solidFill>
          <a:ln/>
        </p:spPr>
      </p:sp>
      <p:sp>
        <p:nvSpPr>
          <p:cNvPr id="72" name="Shape 70"/>
          <p:cNvSpPr/>
          <p:nvPr/>
        </p:nvSpPr>
        <p:spPr>
          <a:xfrm>
            <a:off x="11247120" y="6217920"/>
            <a:ext cx="73152" cy="73152"/>
          </a:xfrm>
          <a:prstGeom prst="ellipse">
            <a:avLst/>
          </a:prstGeom>
          <a:solidFill>
            <a:srgbClr val="02C39A">
              <a:alpha val="40000"/>
            </a:srgbClr>
          </a:solidFill>
          <a:ln/>
        </p:spPr>
      </p:sp>
      <p:sp>
        <p:nvSpPr>
          <p:cNvPr id="73" name="Shape 71"/>
          <p:cNvSpPr/>
          <p:nvPr/>
        </p:nvSpPr>
        <p:spPr>
          <a:xfrm>
            <a:off x="5349240" y="1920240"/>
            <a:ext cx="1463040" cy="146304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7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71109" y="2242109"/>
            <a:ext cx="819302" cy="819302"/>
          </a:xfrm>
          <a:prstGeom prst="rect">
            <a:avLst/>
          </a:prstGeom>
        </p:spPr>
      </p:pic>
      <p:sp>
        <p:nvSpPr>
          <p:cNvPr id="75" name="Text 72"/>
          <p:cNvSpPr/>
          <p:nvPr/>
        </p:nvSpPr>
        <p:spPr>
          <a:xfrm>
            <a:off x="1508760" y="3657600"/>
            <a:ext cx="9144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76" name="Text 73"/>
          <p:cNvSpPr/>
          <p:nvPr/>
        </p:nvSpPr>
        <p:spPr>
          <a:xfrm>
            <a:off x="1508760" y="443484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2026-09-01T18:18:30Z</dcterms:created>
  <dcterms:modified xsi:type="dcterms:W3CDTF">2026-09-01T18:18:30Z</dcterms:modified>
</cp:coreProperties>
</file>